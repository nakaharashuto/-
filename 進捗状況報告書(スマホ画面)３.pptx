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notesMasterIdLst>
    <p:notesMasterId r:id="rId24"/>
  </p:notesMasterIdLst>
  <p:sldIdLst>
    <p:sldId id="256" r:id="rId3"/>
    <p:sldId id="261" r:id="rId4"/>
    <p:sldId id="258" r:id="rId5"/>
    <p:sldId id="257" r:id="rId6"/>
    <p:sldId id="259" r:id="rId7"/>
    <p:sldId id="264" r:id="rId8"/>
    <p:sldId id="277"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60" r:id="rId22"/>
    <p:sldId id="263"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E0C04-0C55-411B-ACF4-DE0B96A62C40}" type="datetimeFigureOut">
              <a:rPr kumimoji="1" lang="ja-JP" altLang="en-US" smtClean="0"/>
              <a:t>2025/12/9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173B8-CD3F-4B0B-9633-C5F8294766B3}" type="slidenum">
              <a:rPr kumimoji="1" lang="ja-JP" altLang="en-US" smtClean="0"/>
              <a:t>‹#›</a:t>
            </a:fld>
            <a:endParaRPr kumimoji="1" lang="ja-JP" altLang="en-US"/>
          </a:p>
        </p:txBody>
      </p:sp>
    </p:spTree>
    <p:extLst>
      <p:ext uri="{BB962C8B-B14F-4D97-AF65-F5344CB8AC3E}">
        <p14:creationId xmlns:p14="http://schemas.microsoft.com/office/powerpoint/2010/main" val="4106138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これから進捗発表を始めます。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a:t>
            </a:fld>
            <a:endParaRPr kumimoji="1" lang="ja-JP" altLang="en-US"/>
          </a:p>
        </p:txBody>
      </p:sp>
    </p:spTree>
    <p:extLst>
      <p:ext uri="{BB962C8B-B14F-4D97-AF65-F5344CB8AC3E}">
        <p14:creationId xmlns:p14="http://schemas.microsoft.com/office/powerpoint/2010/main" val="34084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私たちが作成しているものは、</a:t>
            </a:r>
            <a:endParaRPr kumimoji="1" lang="en-US" altLang="ja-JP" dirty="0"/>
          </a:p>
          <a:p>
            <a:r>
              <a:rPr kumimoji="1" lang="en-US" altLang="ja-JP" dirty="0"/>
              <a:t>android</a:t>
            </a:r>
            <a:r>
              <a:rPr kumimoji="1" lang="ja-JP" altLang="en-US" dirty="0"/>
              <a:t>と</a:t>
            </a:r>
            <a:r>
              <a:rPr kumimoji="1" lang="en-US" altLang="ja-JP" dirty="0" err="1"/>
              <a:t>ios</a:t>
            </a:r>
            <a:r>
              <a:rPr kumimoji="1" lang="ja-JP" altLang="en-US" dirty="0"/>
              <a:t>の両方で使用できる</a:t>
            </a:r>
            <a:endParaRPr kumimoji="1" lang="en-US" altLang="ja-JP" dirty="0"/>
          </a:p>
          <a:p>
            <a:r>
              <a:rPr kumimoji="1" lang="ja-JP" altLang="en-US" dirty="0"/>
              <a:t>パスワード管理アプリです。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a:t>
            </a:fld>
            <a:endParaRPr kumimoji="1" lang="ja-JP" altLang="en-US"/>
          </a:p>
        </p:txBody>
      </p:sp>
    </p:spTree>
    <p:extLst>
      <p:ext uri="{BB962C8B-B14F-4D97-AF65-F5344CB8AC3E}">
        <p14:creationId xmlns:p14="http://schemas.microsoft.com/office/powerpoint/2010/main" val="3090015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このアプリの主な機能は、</a:t>
            </a:r>
            <a:endParaRPr kumimoji="1" lang="en-US" altLang="ja-JP" dirty="0"/>
          </a:p>
          <a:p>
            <a:r>
              <a:rPr kumimoji="1" lang="ja-JP" altLang="en-US" dirty="0"/>
              <a:t>ランダムで強力なパスワードを自動生成する機能と</a:t>
            </a:r>
            <a:endParaRPr kumimoji="1" lang="en-US" altLang="ja-JP" dirty="0"/>
          </a:p>
          <a:p>
            <a:r>
              <a:rPr kumimoji="1" lang="ja-JP" altLang="en-US" dirty="0"/>
              <a:t>サイト名、ユーザー名、パスワード、</a:t>
            </a:r>
            <a:r>
              <a:rPr kumimoji="1" lang="en-US" altLang="ja-JP" dirty="0"/>
              <a:t>URL</a:t>
            </a:r>
            <a:r>
              <a:rPr kumimoji="1" lang="ja-JP" altLang="en-US" dirty="0"/>
              <a:t>をローカルデータベースに安全に保存する機能です。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3</a:t>
            </a:fld>
            <a:endParaRPr kumimoji="1" lang="ja-JP" altLang="en-US"/>
          </a:p>
        </p:txBody>
      </p:sp>
    </p:spTree>
    <p:extLst>
      <p:ext uri="{BB962C8B-B14F-4D97-AF65-F5344CB8AC3E}">
        <p14:creationId xmlns:p14="http://schemas.microsoft.com/office/powerpoint/2010/main" val="2759224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主な使用技術として、</a:t>
            </a:r>
            <a:endParaRPr kumimoji="1" lang="en-US" altLang="ja-JP" dirty="0"/>
          </a:p>
          <a:p>
            <a:r>
              <a:rPr kumimoji="1" lang="en-US" altLang="ja-JP" dirty="0" err="1"/>
              <a:t>Androido</a:t>
            </a:r>
            <a:r>
              <a:rPr kumimoji="1" lang="ja-JP" altLang="en-US" dirty="0"/>
              <a:t>と</a:t>
            </a:r>
            <a:r>
              <a:rPr kumimoji="1" lang="en-US" altLang="ja-JP" dirty="0" err="1"/>
              <a:t>ios</a:t>
            </a:r>
            <a:r>
              <a:rPr kumimoji="1" lang="ja-JP" altLang="en-US" dirty="0"/>
              <a:t>の両方に対応している</a:t>
            </a:r>
            <a:r>
              <a:rPr kumimoji="1" lang="en-US" altLang="ja-JP" dirty="0"/>
              <a:t>Flutter(</a:t>
            </a:r>
            <a:r>
              <a:rPr kumimoji="1" lang="ja-JP" altLang="en-US" dirty="0"/>
              <a:t>フラッター</a:t>
            </a:r>
            <a:r>
              <a:rPr kumimoji="1" lang="en-US" altLang="ja-JP" dirty="0"/>
              <a:t>)</a:t>
            </a:r>
          </a:p>
          <a:p>
            <a:r>
              <a:rPr kumimoji="1" lang="ja-JP" altLang="en-US" dirty="0"/>
              <a:t>その</a:t>
            </a:r>
            <a:r>
              <a:rPr kumimoji="1" lang="en-US" altLang="ja-JP" dirty="0"/>
              <a:t>Flutter(</a:t>
            </a:r>
            <a:r>
              <a:rPr kumimoji="1" lang="ja-JP" altLang="en-US" dirty="0"/>
              <a:t>フラッター</a:t>
            </a:r>
            <a:r>
              <a:rPr kumimoji="1" lang="en-US" altLang="ja-JP" dirty="0"/>
              <a:t>)</a:t>
            </a:r>
            <a:r>
              <a:rPr kumimoji="1" lang="ja-JP" altLang="en-US" dirty="0"/>
              <a:t>と相性のいい開発言語である</a:t>
            </a:r>
            <a:r>
              <a:rPr kumimoji="1" lang="en-US" altLang="ja-JP" dirty="0"/>
              <a:t>Dart(</a:t>
            </a:r>
            <a:r>
              <a:rPr kumimoji="1" lang="ja-JP" altLang="en-US" dirty="0"/>
              <a:t>ダート</a:t>
            </a:r>
            <a:r>
              <a:rPr kumimoji="1" lang="en-US" altLang="ja-JP" dirty="0"/>
              <a:t>)</a:t>
            </a:r>
          </a:p>
          <a:p>
            <a:r>
              <a:rPr kumimoji="1" lang="ja-JP" altLang="en-US" dirty="0"/>
              <a:t>データの保存や管理をするためのローカルデータベースの</a:t>
            </a:r>
            <a:r>
              <a:rPr kumimoji="1" lang="en-US" altLang="ja-JP" dirty="0"/>
              <a:t>Isar(</a:t>
            </a:r>
            <a:r>
              <a:rPr kumimoji="1" lang="ja-JP" altLang="en-US" dirty="0"/>
              <a:t>アイザー</a:t>
            </a:r>
            <a:r>
              <a:rPr kumimoji="1" lang="en-US" altLang="ja-JP" dirty="0"/>
              <a:t>)</a:t>
            </a:r>
          </a:p>
          <a:p>
            <a:r>
              <a:rPr kumimoji="1" lang="ja-JP" altLang="en-US" dirty="0"/>
              <a:t>機密情報の保管に</a:t>
            </a:r>
            <a:r>
              <a:rPr kumimoji="1" lang="en-US" altLang="ja-JP" dirty="0" err="1"/>
              <a:t>flutter_secure_storage</a:t>
            </a:r>
            <a:r>
              <a:rPr kumimoji="1" lang="en-US" altLang="ja-JP" dirty="0"/>
              <a:t>(</a:t>
            </a:r>
            <a:r>
              <a:rPr kumimoji="1" lang="ja-JP" altLang="en-US" dirty="0"/>
              <a:t>フラッターセキュアストレージ</a:t>
            </a:r>
            <a:r>
              <a:rPr kumimoji="1" lang="en-US" altLang="ja-JP" dirty="0"/>
              <a:t>)</a:t>
            </a:r>
          </a:p>
          <a:p>
            <a:r>
              <a:rPr kumimoji="1" lang="en-US" altLang="ja-JP" dirty="0"/>
              <a:t>encrypt(</a:t>
            </a:r>
            <a:r>
              <a:rPr kumimoji="1" lang="ja-JP" altLang="en-US" dirty="0"/>
              <a:t>エンクリプト</a:t>
            </a:r>
            <a:r>
              <a:rPr kumimoji="1" lang="en-US" altLang="ja-JP" dirty="0"/>
              <a:t>)</a:t>
            </a:r>
            <a:r>
              <a:rPr kumimoji="1" lang="ja-JP" altLang="en-US" dirty="0"/>
              <a:t>パッケージを使った暗号化を行うために</a:t>
            </a:r>
            <a:r>
              <a:rPr kumimoji="1" lang="en-US" altLang="ja-JP" dirty="0"/>
              <a:t>AES-256 GCM(</a:t>
            </a:r>
            <a:r>
              <a:rPr kumimoji="1" lang="ja-JP" altLang="en-US" dirty="0"/>
              <a:t>エーイーエス</a:t>
            </a:r>
            <a:r>
              <a:rPr kumimoji="1" lang="en-US" altLang="ja-JP" dirty="0"/>
              <a:t>256</a:t>
            </a:r>
            <a:r>
              <a:rPr kumimoji="1" lang="ja-JP" altLang="en-US" dirty="0"/>
              <a:t>ジーシーエム</a:t>
            </a:r>
            <a:r>
              <a:rPr kumimoji="1" lang="en-US" altLang="ja-JP" dirty="0"/>
              <a:t>)</a:t>
            </a:r>
          </a:p>
          <a:p>
            <a:r>
              <a:rPr kumimoji="1" lang="ja-JP" altLang="en-US" dirty="0"/>
              <a:t>を使用しています。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4</a:t>
            </a:fld>
            <a:endParaRPr kumimoji="1" lang="ja-JP" altLang="en-US"/>
          </a:p>
        </p:txBody>
      </p:sp>
    </p:spTree>
    <p:extLst>
      <p:ext uri="{BB962C8B-B14F-4D97-AF65-F5344CB8AC3E}">
        <p14:creationId xmlns:p14="http://schemas.microsoft.com/office/powerpoint/2010/main" val="3108614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a:t>
            </a:r>
            <a:r>
              <a:rPr kumimoji="1" lang="en-US" altLang="ja-JP" dirty="0"/>
              <a:t>android</a:t>
            </a:r>
            <a:r>
              <a:rPr kumimoji="1" lang="ja-JP" altLang="en-US" dirty="0"/>
              <a:t>環境のみになりますが作成済みの機能として、</a:t>
            </a:r>
            <a:endParaRPr kumimoji="1" lang="en-US" altLang="ja-JP" dirty="0"/>
          </a:p>
          <a:p>
            <a:r>
              <a:rPr kumimoji="1" lang="ja-JP" altLang="en-US" dirty="0"/>
              <a:t>パスワードの自動生成</a:t>
            </a:r>
            <a:endParaRPr kumimoji="1" lang="en-US" altLang="ja-JP" dirty="0"/>
          </a:p>
          <a:p>
            <a:r>
              <a:rPr kumimoji="1" lang="ja-JP" altLang="en-US" dirty="0"/>
              <a:t>パスワードの登録、編集、コピー、削除</a:t>
            </a:r>
            <a:endParaRPr kumimoji="1" lang="en-US" altLang="ja-JP" dirty="0"/>
          </a:p>
          <a:p>
            <a:r>
              <a:rPr kumimoji="1" lang="en-US" altLang="ja-JP" dirty="0"/>
              <a:t>PIN</a:t>
            </a:r>
            <a:r>
              <a:rPr kumimoji="1" lang="ja-JP" altLang="en-US" dirty="0"/>
              <a:t>コードによる認証</a:t>
            </a:r>
            <a:endParaRPr kumimoji="1" lang="en-US" altLang="ja-JP" dirty="0"/>
          </a:p>
          <a:p>
            <a:r>
              <a:rPr kumimoji="1" lang="ja-JP" altLang="en-US" dirty="0"/>
              <a:t>保存するデータの暗号化</a:t>
            </a:r>
            <a:endParaRPr kumimoji="1" lang="en-US" altLang="ja-JP" dirty="0"/>
          </a:p>
          <a:p>
            <a:r>
              <a:rPr kumimoji="1" lang="ja-JP" altLang="en-US" dirty="0"/>
              <a:t>ローカルデータベースによる永続化</a:t>
            </a:r>
            <a:endParaRPr kumimoji="1" lang="en-US" altLang="ja-JP" dirty="0"/>
          </a:p>
          <a:p>
            <a:r>
              <a:rPr kumimoji="1" lang="ja-JP" altLang="en-US" dirty="0"/>
              <a:t>があります。</a:t>
            </a:r>
            <a:endParaRPr kumimoji="1" lang="en-US" altLang="ja-JP" dirty="0"/>
          </a:p>
          <a:p>
            <a:r>
              <a:rPr kumimoji="1" lang="ja-JP" altLang="en-US" dirty="0"/>
              <a:t>次にアプリのスクリーンショットをお見せします。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5</a:t>
            </a:fld>
            <a:endParaRPr kumimoji="1" lang="ja-JP" altLang="en-US"/>
          </a:p>
        </p:txBody>
      </p:sp>
    </p:spTree>
    <p:extLst>
      <p:ext uri="{BB962C8B-B14F-4D97-AF65-F5344CB8AC3E}">
        <p14:creationId xmlns:p14="http://schemas.microsoft.com/office/powerpoint/2010/main" val="3354273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こちらがアプリ初回起動時の</a:t>
            </a:r>
            <a:r>
              <a:rPr kumimoji="1" lang="en-US" altLang="ja-JP" dirty="0"/>
              <a:t>PIN</a:t>
            </a:r>
            <a:r>
              <a:rPr kumimoji="1" lang="ja-JP" altLang="en-US" dirty="0"/>
              <a:t>コードの登録画面です。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初回起動時に</a:t>
            </a:r>
            <a:r>
              <a:rPr kumimoji="1" lang="en-US" altLang="ja-JP" dirty="0"/>
              <a:t>PIN</a:t>
            </a:r>
            <a:r>
              <a:rPr kumimoji="1" lang="ja-JP" altLang="en-US" dirty="0"/>
              <a:t>を登録し二回目以降はロック解除画面で</a:t>
            </a:r>
            <a:r>
              <a:rPr kumimoji="1" lang="en-US" altLang="ja-JP" dirty="0"/>
              <a:t>PIN</a:t>
            </a:r>
            <a:r>
              <a:rPr kumimoji="1" lang="ja-JP" altLang="en-US" dirty="0"/>
              <a:t>の入力、もしくは生体認証を行うことでアプリのロックを解除することができます。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6</a:t>
            </a:fld>
            <a:endParaRPr kumimoji="1" lang="ja-JP" altLang="en-US"/>
          </a:p>
        </p:txBody>
      </p:sp>
    </p:spTree>
    <p:extLst>
      <p:ext uri="{BB962C8B-B14F-4D97-AF65-F5344CB8AC3E}">
        <p14:creationId xmlns:p14="http://schemas.microsoft.com/office/powerpoint/2010/main" val="430015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4ECEE-BC85-2921-F52D-37B9ECC037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E7AA07-F919-C329-6624-3E0BED319B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0E60D-20B6-A044-9ABE-4DA3D4C15EF2}"/>
              </a:ext>
            </a:extLst>
          </p:cNvPr>
          <p:cNvSpPr>
            <a:spLocks noGrp="1"/>
          </p:cNvSpPr>
          <p:nvPr>
            <p:ph type="body" idx="1"/>
          </p:nvPr>
        </p:nvSpPr>
        <p:spPr/>
        <p:txBody>
          <a:bodyPr/>
          <a:lstStyle/>
          <a:p>
            <a:r>
              <a:rPr kumimoji="1" lang="ja-JP" altLang="en-US" dirty="0"/>
              <a:t>こちらが二回目以降の</a:t>
            </a:r>
            <a:r>
              <a:rPr kumimoji="1" lang="en-US" altLang="ja-JP" dirty="0"/>
              <a:t>PIN</a:t>
            </a:r>
            <a:r>
              <a:rPr kumimoji="1" lang="ja-JP" altLang="en-US" dirty="0"/>
              <a:t>が登録された状態になります。</a:t>
            </a:r>
            <a:endParaRPr kumimoji="1" lang="en-US" altLang="ja-JP" dirty="0"/>
          </a:p>
        </p:txBody>
      </p:sp>
      <p:sp>
        <p:nvSpPr>
          <p:cNvPr id="4" name="スライド番号プレースホルダー 3">
            <a:extLst>
              <a:ext uri="{FF2B5EF4-FFF2-40B4-BE49-F238E27FC236}">
                <a16:creationId xmlns:a16="http://schemas.microsoft.com/office/drawing/2014/main" id="{D5CEA0E3-163C-C5F2-B282-99D3ED8D4D4F}"/>
              </a:ext>
            </a:extLst>
          </p:cNvPr>
          <p:cNvSpPr>
            <a:spLocks noGrp="1"/>
          </p:cNvSpPr>
          <p:nvPr>
            <p:ph type="sldNum" sz="quarter" idx="5"/>
          </p:nvPr>
        </p:nvSpPr>
        <p:spPr/>
        <p:txBody>
          <a:bodyPr/>
          <a:lstStyle/>
          <a:p>
            <a:fld id="{3D4173B8-CD3F-4B0B-9633-C5F8294766B3}" type="slidenum">
              <a:rPr kumimoji="1" lang="ja-JP" altLang="en-US" smtClean="0"/>
              <a:t>7</a:t>
            </a:fld>
            <a:endParaRPr kumimoji="1" lang="ja-JP" altLang="en-US"/>
          </a:p>
        </p:txBody>
      </p:sp>
    </p:spTree>
    <p:extLst>
      <p:ext uri="{BB962C8B-B14F-4D97-AF65-F5344CB8AC3E}">
        <p14:creationId xmlns:p14="http://schemas.microsoft.com/office/powerpoint/2010/main" val="36710776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ロックを解除するとメインの画面に移動します。</a:t>
            </a:r>
            <a:endParaRPr kumimoji="1" lang="en-US" altLang="ja-JP" dirty="0"/>
          </a:p>
          <a:p>
            <a:r>
              <a:rPr kumimoji="1" lang="ja-JP" altLang="en-US" dirty="0"/>
              <a:t>この画面では登録したパスワードが一覧で表示されます。</a:t>
            </a:r>
            <a:endParaRPr kumimoji="1" lang="en-US" altLang="ja-JP" dirty="0"/>
          </a:p>
          <a:p>
            <a:r>
              <a:rPr kumimoji="1" lang="ja-JP" altLang="en-US" dirty="0"/>
              <a:t>この画面の右下にある</a:t>
            </a:r>
            <a:r>
              <a:rPr kumimoji="1" lang="en-US" altLang="ja-JP" dirty="0"/>
              <a:t>+(</a:t>
            </a:r>
            <a:r>
              <a:rPr kumimoji="1" lang="ja-JP" altLang="en-US" dirty="0"/>
              <a:t>プラス</a:t>
            </a:r>
            <a:r>
              <a:rPr kumimoji="1" lang="en-US" altLang="ja-JP" dirty="0"/>
              <a:t>)</a:t>
            </a:r>
            <a:r>
              <a:rPr kumimoji="1" lang="ja-JP" altLang="en-US" dirty="0"/>
              <a:t>のボタンを押すと、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8</a:t>
            </a:fld>
            <a:endParaRPr kumimoji="1" lang="ja-JP" altLang="en-US"/>
          </a:p>
        </p:txBody>
      </p:sp>
    </p:spTree>
    <p:extLst>
      <p:ext uri="{BB962C8B-B14F-4D97-AF65-F5344CB8AC3E}">
        <p14:creationId xmlns:p14="http://schemas.microsoft.com/office/powerpoint/2010/main" val="36702421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パスワードの新規登録画面に移動します。</a:t>
            </a:r>
            <a:endParaRPr kumimoji="1" lang="en-US" altLang="ja-JP" dirty="0"/>
          </a:p>
          <a:p>
            <a:r>
              <a:rPr kumimoji="1" lang="ja-JP" altLang="en-US" dirty="0"/>
              <a:t>ここではサービス名やユーザー名、パスワード、</a:t>
            </a:r>
            <a:r>
              <a:rPr kumimoji="1" lang="en-US" altLang="ja-JP" dirty="0"/>
              <a:t>URL</a:t>
            </a:r>
            <a:r>
              <a:rPr kumimoji="1" lang="ja-JP" altLang="en-US" dirty="0"/>
              <a:t>を入力できる欄が表示されています。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9</a:t>
            </a:fld>
            <a:endParaRPr kumimoji="1" lang="ja-JP" altLang="en-US"/>
          </a:p>
        </p:txBody>
      </p:sp>
    </p:spTree>
    <p:extLst>
      <p:ext uri="{BB962C8B-B14F-4D97-AF65-F5344CB8AC3E}">
        <p14:creationId xmlns:p14="http://schemas.microsoft.com/office/powerpoint/2010/main" val="1437798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この欄に入力して下の保存と書かれたボタンを押すと、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10</a:t>
            </a:fld>
            <a:endParaRPr kumimoji="1" lang="ja-JP" altLang="en-US"/>
          </a:p>
        </p:txBody>
      </p:sp>
    </p:spTree>
    <p:extLst>
      <p:ext uri="{BB962C8B-B14F-4D97-AF65-F5344CB8AC3E}">
        <p14:creationId xmlns:p14="http://schemas.microsoft.com/office/powerpoint/2010/main" val="2763989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メインの画面に戻り一覧に先ほど追加したパスワードが表示されます。</a:t>
            </a:r>
            <a:endParaRPr kumimoji="1" lang="en-US" altLang="ja-JP" dirty="0"/>
          </a:p>
          <a:p>
            <a:r>
              <a:rPr kumimoji="1" lang="ja-JP" altLang="en-US" dirty="0"/>
              <a:t>パスワードの右側に表示されている三つのボタンがそれぞれ左から、コピー、編集、削除になっています。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11</a:t>
            </a:fld>
            <a:endParaRPr kumimoji="1" lang="ja-JP" altLang="en-US"/>
          </a:p>
        </p:txBody>
      </p:sp>
    </p:spTree>
    <p:extLst>
      <p:ext uri="{BB962C8B-B14F-4D97-AF65-F5344CB8AC3E}">
        <p14:creationId xmlns:p14="http://schemas.microsoft.com/office/powerpoint/2010/main" val="1037664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こちらが編集の画面になります。</a:t>
            </a:r>
            <a:endParaRPr kumimoji="1" lang="en-US" altLang="ja-JP" dirty="0"/>
          </a:p>
          <a:p>
            <a:r>
              <a:rPr kumimoji="1" lang="ja-JP" altLang="en-US" dirty="0"/>
              <a:t>ここではすでに登録されているパスワードの情報を編集することができます。</a:t>
            </a:r>
            <a:endParaRPr kumimoji="1" lang="en-US" altLang="ja-JP" dirty="0"/>
          </a:p>
          <a:p>
            <a:r>
              <a:rPr kumimoji="1" lang="ja-JP" altLang="en-US" dirty="0"/>
              <a:t>情報を編集し下の</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12</a:t>
            </a:fld>
            <a:endParaRPr kumimoji="1" lang="ja-JP" altLang="en-US"/>
          </a:p>
        </p:txBody>
      </p:sp>
    </p:spTree>
    <p:extLst>
      <p:ext uri="{BB962C8B-B14F-4D97-AF65-F5344CB8AC3E}">
        <p14:creationId xmlns:p14="http://schemas.microsoft.com/office/powerpoint/2010/main" val="5076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3E81D4-3AD5-9CEE-369D-849119CA425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FB05447-D648-D70A-6065-DF010DBC87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DC7848E-D884-B49D-22AC-BA5E5EED667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B95CE0F7-FA8B-CB42-6CB3-DF71CBBA56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A1CA9C-EB9B-4250-4D48-BA07E462590F}"/>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07702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97B4DE-5A34-844B-8E75-8277E43C23A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B0EE24-EAC3-A799-D9C9-F6A8E3C0C51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EA4081-2ED9-DB0C-631A-6546E89010E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434F534A-9BC5-C922-3E45-D7817F4070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2EEAC7-9A09-2B9E-1729-AD5085CB66FA}"/>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26311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DDBD31-58DA-1B47-834A-6285156DB4A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E98A19-9CE5-D980-9AEB-13ABAC546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010C98E-1D82-2E3E-AC58-6B3FE7A398E5}"/>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45EEEA80-8332-0221-FED8-3C0A8261C4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11E5BD-E54F-39A9-F857-4B379196038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924266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2E7E58-8D21-9A77-E137-D539F0F83C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845A801-B50A-9E7A-B4EE-42787CF2004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413CF79-8460-5EE7-6EFF-3E460E554DF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A956913-16F5-8A56-E41A-F8FF51ED3C79}"/>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2331D4DB-CF1E-4223-353E-FA125F28CB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E7A7D8-C819-9EFE-3921-75234E3A539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55262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B7944C-FF5C-0AB3-CF51-BE347A1C24B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3452D3-010A-EEDE-01A8-ADFFC0E502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B963-D8D6-27BA-5B4C-DAD8D2137DB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66926E6-E52D-44DF-0848-EF348DD50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C114517-9D1E-0235-EAA8-DA2AF778EE2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D45839F-6902-BBFB-F8FA-E7245B50F967}"/>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8" name="フッター プレースホルダー 7">
            <a:extLst>
              <a:ext uri="{FF2B5EF4-FFF2-40B4-BE49-F238E27FC236}">
                <a16:creationId xmlns:a16="http://schemas.microsoft.com/office/drawing/2014/main" id="{77214713-A5C4-685C-DA7C-52CB23127A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2D2A42A-3F4E-D6C6-6B86-F2487D02A792}"/>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809149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DE800A-AD15-351E-E56B-01A4BC25CDC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073FD3A-A358-8C06-C92F-07DCF236E38E}"/>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フッター プレースホルダー 3">
            <a:extLst>
              <a:ext uri="{FF2B5EF4-FFF2-40B4-BE49-F238E27FC236}">
                <a16:creationId xmlns:a16="http://schemas.microsoft.com/office/drawing/2014/main" id="{DED11831-1F79-774F-F9CB-EE60C5D4733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3650A9E-792B-045D-1C71-622D28038217}"/>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455917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D6142E-C519-5C28-096C-469D1142654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3" name="フッター プレースホルダー 2">
            <a:extLst>
              <a:ext uri="{FF2B5EF4-FFF2-40B4-BE49-F238E27FC236}">
                <a16:creationId xmlns:a16="http://schemas.microsoft.com/office/drawing/2014/main" id="{D248C1BE-5AB1-B878-4E05-006BCD82BBC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A417A7A-C65A-C35B-4272-FE9179C69ED8}"/>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673584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E6FB03-78BF-DF02-33FE-6749552AD7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286D24C-38D9-90C3-C6E3-C99A158000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E1B66B1-91AE-B749-90C2-DF10C013A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B3FB940-DC8C-754B-E1C6-8190510A9E5C}"/>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EEF07F80-83CA-B262-412B-80AF3B7704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CDC150-D3D9-AC74-C9D7-6061E3C0C3BF}"/>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12101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2F2416-8EBE-8DAA-620B-2A66AF1DDC9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5433342-4BA5-E2C2-B182-F205AED619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B890DB4-B0EB-8ED5-CD79-0775D0292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98CC54-4364-3EF7-54DA-62F19CA0ED87}"/>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84AD2D95-F7EA-FD3B-AD7E-1EE3715423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0787B5-2318-1FE9-BFD8-73276FED9C25}"/>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58120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BFE415-5ECD-A11C-2F3B-3FA9BBC578D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45E4599-3A67-43F4-D2C4-C17613FE253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3BCB82D-853C-6354-E744-D60A4C6B423C}"/>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CD587F9F-4537-5AC9-01C6-E6372D54D8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DB0040-E16F-603A-A0D4-B13D64C6CDBC}"/>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8615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C9B1085-D67C-573C-B4C9-AA4288E5F4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FC2C8B-694A-731E-1BE5-D9E1A3EA65A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6E6F52-E81D-6A68-7771-446C22BF5E02}"/>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7A346613-F3C7-F5DD-AC05-F8958B4A36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0DBB99-5787-7A94-8F0D-900979173EC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59581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063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63776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01879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789481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166111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6289143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59585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7151997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ja-JP" altLang="en-US"/>
              <a:t>マスター タイトルの書式設定</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505366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99085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9186849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93563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566630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99733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05652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1005947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48071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E2C450-A096-A5E1-0F9D-99D1D6772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D3812B-6354-936D-A6B0-74C5AD59E1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E0D4AE-911D-8F95-6F3D-306DDE293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69E4EE6E-6B28-85FA-1A74-431C6AFBB0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96C2796-9B3B-B3F5-4252-97B64C905D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98861547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kumimoji="1" lang="ja-JP" alt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31275800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kumimoji="1" sz="3600" kern="1200" cap="all">
          <a:ln w="3175" cmpd="sng">
            <a:noFill/>
          </a:ln>
          <a:solidFill>
            <a:schemeClr val="tx1"/>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BE6DA1-54DF-6B63-FEF7-85975D11DF8F}"/>
              </a:ext>
            </a:extLst>
          </p:cNvPr>
          <p:cNvSpPr>
            <a:spLocks noGrp="1"/>
          </p:cNvSpPr>
          <p:nvPr>
            <p:ph type="ctrTitle"/>
          </p:nvPr>
        </p:nvSpPr>
        <p:spPr>
          <a:xfrm>
            <a:off x="2780714" y="2876806"/>
            <a:ext cx="6630572" cy="1104388"/>
          </a:xfrm>
        </p:spPr>
        <p:txBody>
          <a:bodyPr>
            <a:normAutofit/>
          </a:bodyPr>
          <a:lstStyle/>
          <a:p>
            <a:r>
              <a:rPr kumimoji="1" lang="ja-JP" altLang="en-US" sz="7200" dirty="0">
                <a:latin typeface="HGS創英角ｺﾞｼｯｸUB" panose="020B0900000000000000" pitchFamily="50" charset="-128"/>
                <a:ea typeface="HGS創英角ｺﾞｼｯｸUB" panose="020B0900000000000000" pitchFamily="50" charset="-128"/>
              </a:rPr>
              <a:t>進捗状況報告書</a:t>
            </a:r>
          </a:p>
        </p:txBody>
      </p:sp>
    </p:spTree>
    <p:extLst>
      <p:ext uri="{BB962C8B-B14F-4D97-AF65-F5344CB8AC3E}">
        <p14:creationId xmlns:p14="http://schemas.microsoft.com/office/powerpoint/2010/main" val="22351723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B2AD7-B2E3-AC14-AC4B-2D06A5C89C9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8BBFB8D-39F8-1638-BD56-B5C2C2F47E81}"/>
              </a:ext>
            </a:extLst>
          </p:cNvPr>
          <p:cNvSpPr>
            <a:spLocks noGrp="1"/>
          </p:cNvSpPr>
          <p:nvPr>
            <p:ph idx="1"/>
          </p:nvPr>
        </p:nvSpPr>
        <p:spPr>
          <a:xfrm>
            <a:off x="1456006" y="2415905"/>
            <a:ext cx="9279988" cy="2026190"/>
          </a:xfrm>
        </p:spPr>
        <p:txBody>
          <a:bodyPr>
            <a:noAutofit/>
          </a:bodyPr>
          <a:lstStyle/>
          <a:p>
            <a:pPr marL="0" indent="0" algn="ctr">
              <a:buNone/>
            </a:pPr>
            <a:r>
              <a:rPr lang="en-US" altLang="ja-JP"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Android</a:t>
            </a:r>
            <a:r>
              <a:rPr lang="ja-JP" altLang="en-US"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と</a:t>
            </a:r>
            <a:r>
              <a:rPr lang="en-US" altLang="ja-JP" sz="4800" b="1" dirty="0" err="1">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ios</a:t>
            </a:r>
            <a:r>
              <a:rPr lang="ja-JP" altLang="en-US"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の両方で使用できる</a:t>
            </a:r>
            <a:endParaRPr lang="en-US" altLang="ja-JP"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a:p>
            <a:pPr marL="0" indent="0" algn="ctr">
              <a:buNone/>
            </a:pPr>
            <a:r>
              <a:rPr lang="ja-JP" altLang="en-US" sz="80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パスワード管理アプリ</a:t>
            </a:r>
            <a:endParaRPr lang="en-US" altLang="ja-JP" sz="80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3174553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8663C-3BAA-26AA-D358-E959E1B16C4C}"/>
              </a:ext>
            </a:extLst>
          </p:cNvPr>
          <p:cNvSpPr>
            <a:spLocks noGrp="1"/>
          </p:cNvSpPr>
          <p:nvPr>
            <p:ph type="title"/>
          </p:nvPr>
        </p:nvSpPr>
        <p:spPr>
          <a:xfrm>
            <a:off x="4741813" y="634086"/>
            <a:ext cx="2708373" cy="1456267"/>
          </a:xfrm>
        </p:spPr>
        <p:txBody>
          <a:bodyPr>
            <a:normAutofit/>
          </a:bodyPr>
          <a:lstStyle/>
          <a:p>
            <a:r>
              <a:rPr kumimoji="1" lang="ja-JP" altLang="en-US" sz="4800" b="1" dirty="0">
                <a:latin typeface="HGS創英角ｺﾞｼｯｸUB" panose="020B0900000000000000" pitchFamily="50" charset="-128"/>
                <a:ea typeface="HGS創英角ｺﾞｼｯｸUB" panose="020B0900000000000000" pitchFamily="50" charset="-128"/>
              </a:rPr>
              <a:t>主な機能</a:t>
            </a:r>
          </a:p>
        </p:txBody>
      </p:sp>
      <p:sp>
        <p:nvSpPr>
          <p:cNvPr id="3" name="コンテンツ プレースホルダー 2">
            <a:extLst>
              <a:ext uri="{FF2B5EF4-FFF2-40B4-BE49-F238E27FC236}">
                <a16:creationId xmlns:a16="http://schemas.microsoft.com/office/drawing/2014/main" id="{C8B4AEE0-6B2A-7953-D025-AB91CB4F2616}"/>
              </a:ext>
            </a:extLst>
          </p:cNvPr>
          <p:cNvSpPr>
            <a:spLocks noGrp="1"/>
          </p:cNvSpPr>
          <p:nvPr>
            <p:ph idx="1"/>
          </p:nvPr>
        </p:nvSpPr>
        <p:spPr>
          <a:xfrm>
            <a:off x="685801" y="2451556"/>
            <a:ext cx="10131425" cy="3649133"/>
          </a:xfrm>
        </p:spPr>
        <p:txBody>
          <a:bodyPr>
            <a:normAutofit/>
          </a:bodyPr>
          <a:lstStyle/>
          <a:p>
            <a:pPr marL="0" indent="0">
              <a:buNone/>
            </a:pPr>
            <a:r>
              <a:rPr lang="ja-JP" altLang="en-US" sz="4000" dirty="0">
                <a:latin typeface="HGP創英角ﾎﾟｯﾌﾟ体" panose="040B0A00000000000000" pitchFamily="50" charset="-128"/>
                <a:ea typeface="HGP創英角ﾎﾟｯﾌﾟ体" panose="040B0A00000000000000" pitchFamily="50" charset="-128"/>
              </a:rPr>
              <a:t>・ランダムで強力なパスワードを</a:t>
            </a:r>
            <a:r>
              <a:rPr lang="ja-JP" altLang="en-US" sz="4000" u="sng" dirty="0">
                <a:latin typeface="HGP創英角ﾎﾟｯﾌﾟ体" panose="040B0A00000000000000" pitchFamily="50" charset="-128"/>
                <a:ea typeface="HGP創英角ﾎﾟｯﾌﾟ体" panose="040B0A00000000000000" pitchFamily="50" charset="-128"/>
              </a:rPr>
              <a:t>自動生成機能</a:t>
            </a:r>
            <a:endParaRPr lang="en-US" altLang="ja-JP" sz="4000" u="sng" dirty="0">
              <a:latin typeface="HGP創英角ﾎﾟｯﾌﾟ体" panose="040B0A00000000000000" pitchFamily="50" charset="-128"/>
              <a:ea typeface="HGP創英角ﾎﾟｯﾌﾟ体" panose="040B0A00000000000000" pitchFamily="50" charset="-128"/>
            </a:endParaRPr>
          </a:p>
          <a:p>
            <a:pPr marL="0" indent="0">
              <a:buNone/>
            </a:pP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latin typeface="HGP創英角ﾎﾟｯﾌﾟ体" panose="040B0A00000000000000" pitchFamily="50" charset="-128"/>
                <a:ea typeface="HGP創英角ﾎﾟｯﾌﾟ体" panose="040B0A00000000000000" pitchFamily="50" charset="-128"/>
              </a:rPr>
              <a:t>・サイト名、ユーザー名、パスワード、</a:t>
            </a:r>
            <a:r>
              <a:rPr lang="en-US" altLang="ja-JP" sz="4000" dirty="0">
                <a:latin typeface="HGP創英角ﾎﾟｯﾌﾟ体" panose="040B0A00000000000000" pitchFamily="50" charset="-128"/>
                <a:ea typeface="HGP創英角ﾎﾟｯﾌﾟ体" panose="040B0A00000000000000" pitchFamily="50" charset="-128"/>
              </a:rPr>
              <a:t>URL</a:t>
            </a:r>
            <a:r>
              <a:rPr lang="ja-JP" altLang="en-US" sz="4000" dirty="0">
                <a:latin typeface="HGP創英角ﾎﾟｯﾌﾟ体" panose="040B0A00000000000000" pitchFamily="50" charset="-128"/>
                <a:ea typeface="HGP創英角ﾎﾟｯﾌﾟ体" panose="040B0A00000000000000" pitchFamily="50" charset="-128"/>
              </a:rPr>
              <a:t>を</a:t>
            </a: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latin typeface="HGP創英角ﾎﾟｯﾌﾟ体" panose="040B0A00000000000000" pitchFamily="50" charset="-128"/>
                <a:ea typeface="HGP創英角ﾎﾟｯﾌﾟ体" panose="040B0A00000000000000" pitchFamily="50" charset="-128"/>
              </a:rPr>
              <a:t>　ローカルデータベースに安全に保存する機能</a:t>
            </a: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endParaRPr kumimoji="1" lang="ja-JP" altLang="en-US" dirty="0"/>
          </a:p>
        </p:txBody>
      </p:sp>
    </p:spTree>
    <p:extLst>
      <p:ext uri="{BB962C8B-B14F-4D97-AF65-F5344CB8AC3E}">
        <p14:creationId xmlns:p14="http://schemas.microsoft.com/office/powerpoint/2010/main" val="376295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23E479-87CC-1B4C-3BC8-317F0B219B25}"/>
              </a:ext>
            </a:extLst>
          </p:cNvPr>
          <p:cNvSpPr>
            <a:spLocks noGrp="1"/>
          </p:cNvSpPr>
          <p:nvPr>
            <p:ph type="title"/>
          </p:nvPr>
        </p:nvSpPr>
        <p:spPr>
          <a:xfrm>
            <a:off x="4113700" y="880374"/>
            <a:ext cx="3964600" cy="984561"/>
          </a:xfrm>
        </p:spPr>
        <p:txBody>
          <a:bodyPr>
            <a:noAutofit/>
          </a:bodyPr>
          <a:lstStyle/>
          <a:p>
            <a:r>
              <a:rPr lang="ja-JP" altLang="en-US" sz="4800" b="1" dirty="0">
                <a:latin typeface="HGS創英角ｺﾞｼｯｸUB" panose="020B0900000000000000" pitchFamily="50" charset="-128"/>
                <a:ea typeface="HGS創英角ｺﾞｼｯｸUB" panose="020B0900000000000000" pitchFamily="50" charset="-128"/>
              </a:rPr>
              <a:t>主な使用技術</a:t>
            </a:r>
            <a:endParaRPr kumimoji="1" lang="ja-JP" altLang="en-US" sz="4800" b="1" dirty="0">
              <a:latin typeface="HGS創英角ｺﾞｼｯｸUB" panose="020B0900000000000000" pitchFamily="50" charset="-128"/>
              <a:ea typeface="HGS創英角ｺﾞｼｯｸUB" panose="020B0900000000000000" pitchFamily="50" charset="-128"/>
            </a:endParaRPr>
          </a:p>
        </p:txBody>
      </p:sp>
      <p:sp>
        <p:nvSpPr>
          <p:cNvPr id="5" name="テキスト ボックス 4">
            <a:extLst>
              <a:ext uri="{FF2B5EF4-FFF2-40B4-BE49-F238E27FC236}">
                <a16:creationId xmlns:a16="http://schemas.microsoft.com/office/drawing/2014/main" id="{AB639D34-B223-6814-4644-AA3C5E7C8FD8}"/>
              </a:ext>
            </a:extLst>
          </p:cNvPr>
          <p:cNvSpPr txBox="1"/>
          <p:nvPr/>
        </p:nvSpPr>
        <p:spPr>
          <a:xfrm>
            <a:off x="643595" y="2480058"/>
            <a:ext cx="10904808" cy="584775"/>
          </a:xfrm>
          <a:prstGeom prst="rect">
            <a:avLst/>
          </a:prstGeom>
          <a:noFill/>
        </p:spPr>
        <p:txBody>
          <a:bodyPr wrap="square" rtlCol="0">
            <a:spAutoFit/>
          </a:bodyPr>
          <a:lstStyle/>
          <a:p>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Flutter</a:t>
            </a:r>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Android</a:t>
            </a:r>
            <a:r>
              <a:rPr kumimoji="1" lang="ja-JP" altLang="en-US" sz="3200" dirty="0">
                <a:latin typeface="HGP創英角ﾎﾟｯﾌﾟ体" panose="040B0A00000000000000" pitchFamily="50" charset="-128"/>
                <a:ea typeface="HGP創英角ﾎﾟｯﾌﾟ体" panose="040B0A00000000000000" pitchFamily="50" charset="-128"/>
              </a:rPr>
              <a:t>と</a:t>
            </a:r>
            <a:r>
              <a:rPr kumimoji="1" lang="en-US" altLang="ja-JP" sz="3200" dirty="0" err="1">
                <a:latin typeface="HGP創英角ﾎﾟｯﾌﾟ体" panose="040B0A00000000000000" pitchFamily="50" charset="-128"/>
                <a:ea typeface="HGP創英角ﾎﾟｯﾌﾟ体" panose="040B0A00000000000000" pitchFamily="50" charset="-128"/>
              </a:rPr>
              <a:t>ios</a:t>
            </a:r>
            <a:r>
              <a:rPr kumimoji="1" lang="ja-JP" altLang="en-US" sz="3200" dirty="0">
                <a:latin typeface="HGP創英角ﾎﾟｯﾌﾟ体" panose="040B0A00000000000000" pitchFamily="50" charset="-128"/>
                <a:ea typeface="HGP創英角ﾎﾟｯﾌﾟ体" panose="040B0A00000000000000" pitchFamily="50" charset="-128"/>
              </a:rPr>
              <a:t>の両方に対応するためフレームワーク）</a:t>
            </a:r>
          </a:p>
        </p:txBody>
      </p:sp>
      <p:sp>
        <p:nvSpPr>
          <p:cNvPr id="6" name="テキスト ボックス 5">
            <a:extLst>
              <a:ext uri="{FF2B5EF4-FFF2-40B4-BE49-F238E27FC236}">
                <a16:creationId xmlns:a16="http://schemas.microsoft.com/office/drawing/2014/main" id="{F8CEDB40-3B23-A8C2-DF09-B5C9A711B116}"/>
              </a:ext>
            </a:extLst>
          </p:cNvPr>
          <p:cNvSpPr txBox="1"/>
          <p:nvPr/>
        </p:nvSpPr>
        <p:spPr>
          <a:xfrm>
            <a:off x="643595" y="3208393"/>
            <a:ext cx="6997428"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Dart</a:t>
            </a:r>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Flutter</a:t>
            </a:r>
            <a:r>
              <a:rPr kumimoji="1" lang="ja-JP" altLang="en-US" sz="3200" b="1" dirty="0">
                <a:latin typeface="HGP創英角ﾎﾟｯﾌﾟ体" panose="040B0A00000000000000" pitchFamily="50" charset="-128"/>
                <a:ea typeface="HGP創英角ﾎﾟｯﾌﾟ体" panose="040B0A00000000000000" pitchFamily="50" charset="-128"/>
              </a:rPr>
              <a:t>と相性のいい開発言語）</a:t>
            </a:r>
          </a:p>
        </p:txBody>
      </p:sp>
      <p:sp>
        <p:nvSpPr>
          <p:cNvPr id="7" name="テキスト ボックス 6">
            <a:extLst>
              <a:ext uri="{FF2B5EF4-FFF2-40B4-BE49-F238E27FC236}">
                <a16:creationId xmlns:a16="http://schemas.microsoft.com/office/drawing/2014/main" id="{B64866F8-636C-5F8C-1843-F0AB65E73469}"/>
              </a:ext>
            </a:extLst>
          </p:cNvPr>
          <p:cNvSpPr txBox="1"/>
          <p:nvPr/>
        </p:nvSpPr>
        <p:spPr>
          <a:xfrm>
            <a:off x="643595" y="4003231"/>
            <a:ext cx="11083483"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Isar</a:t>
            </a:r>
            <a:r>
              <a:rPr kumimoji="1" lang="ja-JP" altLang="en-US" sz="3200" b="1" dirty="0">
                <a:latin typeface="HGP創英角ﾎﾟｯﾌﾟ体" panose="040B0A00000000000000" pitchFamily="50" charset="-128"/>
                <a:ea typeface="HGP創英角ﾎﾟｯﾌﾟ体" panose="040B0A00000000000000" pitchFamily="50" charset="-128"/>
              </a:rPr>
              <a:t>（データの保存や管理をするためのローカルデータベース）</a:t>
            </a:r>
          </a:p>
        </p:txBody>
      </p:sp>
      <p:sp>
        <p:nvSpPr>
          <p:cNvPr id="8" name="テキスト ボックス 7">
            <a:extLst>
              <a:ext uri="{FF2B5EF4-FFF2-40B4-BE49-F238E27FC236}">
                <a16:creationId xmlns:a16="http://schemas.microsoft.com/office/drawing/2014/main" id="{20C90197-404B-E4EE-7296-9159D71116A2}"/>
              </a:ext>
            </a:extLst>
          </p:cNvPr>
          <p:cNvSpPr txBox="1"/>
          <p:nvPr/>
        </p:nvSpPr>
        <p:spPr>
          <a:xfrm>
            <a:off x="643595" y="4726292"/>
            <a:ext cx="7931980"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err="1">
                <a:latin typeface="HGP創英角ﾎﾟｯﾌﾟ体" panose="040B0A00000000000000" pitchFamily="50" charset="-128"/>
                <a:ea typeface="HGP創英角ﾎﾟｯﾌﾟ体" panose="040B0A00000000000000" pitchFamily="50" charset="-128"/>
              </a:rPr>
              <a:t>flutter_secure_storage</a:t>
            </a:r>
            <a:r>
              <a:rPr kumimoji="1" lang="en-US" altLang="ja-JP" sz="3200" b="1" dirty="0">
                <a:latin typeface="HGP創英角ﾎﾟｯﾌﾟ体" panose="040B0A00000000000000" pitchFamily="50" charset="-128"/>
                <a:ea typeface="HGP創英角ﾎﾟｯﾌﾟ体" panose="040B0A00000000000000" pitchFamily="50" charset="-128"/>
              </a:rPr>
              <a:t>(</a:t>
            </a:r>
            <a:r>
              <a:rPr kumimoji="1" lang="ja-JP" altLang="en-US" sz="3200" b="1" dirty="0">
                <a:latin typeface="HGP創英角ﾎﾟｯﾌﾟ体" panose="040B0A00000000000000" pitchFamily="50" charset="-128"/>
                <a:ea typeface="HGP創英角ﾎﾟｯﾌﾟ体" panose="040B0A00000000000000" pitchFamily="50" charset="-128"/>
              </a:rPr>
              <a:t>機密情報の保管</a:t>
            </a:r>
            <a:r>
              <a:rPr kumimoji="1"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
        <p:nvSpPr>
          <p:cNvPr id="9" name="テキスト ボックス 8">
            <a:extLst>
              <a:ext uri="{FF2B5EF4-FFF2-40B4-BE49-F238E27FC236}">
                <a16:creationId xmlns:a16="http://schemas.microsoft.com/office/drawing/2014/main" id="{50769E9E-526F-4B96-D4F5-59DBCBF6A72E}"/>
              </a:ext>
            </a:extLst>
          </p:cNvPr>
          <p:cNvSpPr txBox="1"/>
          <p:nvPr/>
        </p:nvSpPr>
        <p:spPr>
          <a:xfrm>
            <a:off x="643595" y="5449353"/>
            <a:ext cx="10094430" cy="584775"/>
          </a:xfrm>
          <a:prstGeom prst="rect">
            <a:avLst/>
          </a:prstGeom>
          <a:noFill/>
        </p:spPr>
        <p:txBody>
          <a:bodyPr wrap="none" rtlCol="0">
            <a:spAutoFit/>
          </a:bodyPr>
          <a:lstStyle/>
          <a:p>
            <a:r>
              <a:rPr lang="ja-JP" altLang="en-US" sz="3200" b="1" dirty="0">
                <a:latin typeface="HGP創英角ﾎﾟｯﾌﾟ体" panose="040B0A00000000000000" pitchFamily="50" charset="-128"/>
                <a:ea typeface="HGP創英角ﾎﾟｯﾌﾟ体" panose="040B0A00000000000000" pitchFamily="50" charset="-128"/>
              </a:rPr>
              <a:t>・</a:t>
            </a:r>
            <a:r>
              <a:rPr lang="en-US" altLang="ja-JP" sz="3200" b="1" dirty="0">
                <a:latin typeface="HGP創英角ﾎﾟｯﾌﾟ体" panose="040B0A00000000000000" pitchFamily="50" charset="-128"/>
                <a:ea typeface="HGP創英角ﾎﾟｯﾌﾟ体" panose="040B0A00000000000000" pitchFamily="50" charset="-128"/>
              </a:rPr>
              <a:t>AES-256 GCM(encrypt </a:t>
            </a:r>
            <a:r>
              <a:rPr lang="ja-JP" altLang="en-US" sz="3200" b="1" dirty="0">
                <a:latin typeface="HGP創英角ﾎﾟｯﾌﾟ体" panose="040B0A00000000000000" pitchFamily="50" charset="-128"/>
                <a:ea typeface="HGP創英角ﾎﾟｯﾌﾟ体" panose="040B0A00000000000000" pitchFamily="50" charset="-128"/>
              </a:rPr>
              <a:t>パッケージを使用した暗号化</a:t>
            </a:r>
            <a:r>
              <a:rPr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4321207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anim calcmode="lin" valueType="num">
                                      <p:cBhvr>
                                        <p:cTn id="3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1000"/>
                                        <p:tgtEl>
                                          <p:spTgt spid="9">
                                            <p:txEl>
                                              <p:pRg st="0" end="0"/>
                                            </p:txEl>
                                          </p:spTgt>
                                        </p:tgtEl>
                                      </p:cBhvr>
                                    </p:animEffect>
                                    <p:anim calcmode="lin" valueType="num">
                                      <p:cBhvr>
                                        <p:cTn id="41"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37EB08-19ED-1515-291B-3B5488570C27}"/>
              </a:ext>
            </a:extLst>
          </p:cNvPr>
          <p:cNvSpPr>
            <a:spLocks noGrp="1"/>
          </p:cNvSpPr>
          <p:nvPr>
            <p:ph type="title"/>
          </p:nvPr>
        </p:nvSpPr>
        <p:spPr>
          <a:xfrm>
            <a:off x="2556804" y="472440"/>
            <a:ext cx="4533313" cy="1456267"/>
          </a:xfrm>
        </p:spPr>
        <p:txBody>
          <a:bodyPr>
            <a:normAutofit/>
          </a:bodyPr>
          <a:lstStyle/>
          <a:p>
            <a:r>
              <a:rPr kumimoji="1" lang="ja-JP" altLang="en-US" sz="4800" b="1" dirty="0">
                <a:latin typeface="HGS創英角ｺﾞｼｯｸUB" panose="020B0900000000000000" pitchFamily="50" charset="-128"/>
                <a:ea typeface="HGS創英角ｺﾞｼｯｸUB" panose="020B0900000000000000" pitchFamily="50" charset="-128"/>
              </a:rPr>
              <a:t>作成済みの機能</a:t>
            </a:r>
          </a:p>
        </p:txBody>
      </p:sp>
      <p:sp>
        <p:nvSpPr>
          <p:cNvPr id="3" name="コンテンツ プレースホルダー 2">
            <a:extLst>
              <a:ext uri="{FF2B5EF4-FFF2-40B4-BE49-F238E27FC236}">
                <a16:creationId xmlns:a16="http://schemas.microsoft.com/office/drawing/2014/main" id="{50D6F9FD-DBA3-D112-CDF9-C53441337EB5}"/>
              </a:ext>
            </a:extLst>
          </p:cNvPr>
          <p:cNvSpPr>
            <a:spLocks noGrp="1"/>
          </p:cNvSpPr>
          <p:nvPr>
            <p:ph idx="1"/>
          </p:nvPr>
        </p:nvSpPr>
        <p:spPr>
          <a:xfrm>
            <a:off x="2422574" y="2325794"/>
            <a:ext cx="7346851" cy="3649133"/>
          </a:xfrm>
        </p:spPr>
        <p:txBody>
          <a:bodyPr>
            <a:normAutofit/>
          </a:bodyPr>
          <a:lstStyle/>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・パスワード自動生成</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・パスワード登録、編集、コピー、削除</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コードによる認証</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・保存するデータの暗号化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・ローカル</a:t>
            </a:r>
            <a:r>
              <a:rPr lang="en-US" altLang="ja-JP" sz="3600" b="1" dirty="0">
                <a:latin typeface="HGP創英角ﾎﾟｯﾌﾟ体" panose="040B0A00000000000000" pitchFamily="50" charset="-128"/>
                <a:ea typeface="HGP創英角ﾎﾟｯﾌﾟ体" panose="040B0A00000000000000" pitchFamily="50" charset="-128"/>
              </a:rPr>
              <a:t>DB</a:t>
            </a:r>
            <a:r>
              <a:rPr lang="ja-JP" altLang="en-US" sz="3600" b="1" dirty="0">
                <a:latin typeface="HGP創英角ﾎﾟｯﾌﾟ体" panose="040B0A00000000000000" pitchFamily="50" charset="-128"/>
                <a:ea typeface="HGP創英角ﾎﾟｯﾌﾟ体" panose="040B0A00000000000000" pitchFamily="50" charset="-128"/>
              </a:rPr>
              <a:t>による永続化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endParaRPr kumimoji="1" lang="en-US" altLang="ja-JP" dirty="0"/>
          </a:p>
        </p:txBody>
      </p:sp>
      <p:sp>
        <p:nvSpPr>
          <p:cNvPr id="4" name="コンテンツ プレースホルダー 2">
            <a:extLst>
              <a:ext uri="{FF2B5EF4-FFF2-40B4-BE49-F238E27FC236}">
                <a16:creationId xmlns:a16="http://schemas.microsoft.com/office/drawing/2014/main" id="{63789F3B-F746-95D7-8EF1-4788B81E4473}"/>
              </a:ext>
            </a:extLst>
          </p:cNvPr>
          <p:cNvSpPr txBox="1">
            <a:spLocks/>
          </p:cNvSpPr>
          <p:nvPr/>
        </p:nvSpPr>
        <p:spPr>
          <a:xfrm>
            <a:off x="6922103" y="869527"/>
            <a:ext cx="3108161" cy="777240"/>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kumimoji="1"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kumimoji="1"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kumimoji="1"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9pPr>
          </a:lstStyle>
          <a:p>
            <a:pPr marL="0" indent="0">
              <a:buFont typeface="Arial"/>
              <a:buNone/>
            </a:pPr>
            <a:r>
              <a:rPr lang="en-US" altLang="ja-JP" sz="3600" b="1" dirty="0">
                <a:latin typeface="HGP創英角ﾎﾟｯﾌﾟ体" panose="040B0A00000000000000" pitchFamily="50" charset="-128"/>
                <a:ea typeface="HGP創英角ﾎﾟｯﾌﾟ体" panose="040B0A00000000000000" pitchFamily="50" charset="-128"/>
              </a:rPr>
              <a:t>(Android</a:t>
            </a:r>
            <a:r>
              <a:rPr lang="ja-JP" altLang="en-US" sz="3600" b="1" dirty="0">
                <a:latin typeface="HGP創英角ﾎﾟｯﾌﾟ体" panose="040B0A00000000000000" pitchFamily="50" charset="-128"/>
                <a:ea typeface="HGP創英角ﾎﾟｯﾌﾟ体" panose="040B0A00000000000000" pitchFamily="50" charset="-128"/>
              </a:rPr>
              <a:t>のみ</a:t>
            </a:r>
            <a:r>
              <a:rPr lang="en-US" altLang="ja-JP" sz="3600" b="1" dirty="0">
                <a:latin typeface="HGP創英角ﾎﾟｯﾌﾟ体" panose="040B0A00000000000000" pitchFamily="50" charset="-128"/>
                <a:ea typeface="HGP創英角ﾎﾟｯﾌﾟ体" panose="040B0A00000000000000" pitchFamily="50" charset="-128"/>
              </a:rPr>
              <a:t>)</a:t>
            </a:r>
          </a:p>
        </p:txBody>
      </p:sp>
    </p:spTree>
    <p:extLst>
      <p:ext uri="{BB962C8B-B14F-4D97-AF65-F5344CB8AC3E}">
        <p14:creationId xmlns:p14="http://schemas.microsoft.com/office/powerpoint/2010/main" val="39806236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7E0AD1A6-0AB4-7D32-83A6-2FD940DD4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9441" y="1714500"/>
            <a:ext cx="1914164" cy="3421453"/>
          </a:xfrm>
          <a:prstGeom prst="rect">
            <a:avLst/>
          </a:prstGeom>
        </p:spPr>
      </p:pic>
      <p:pic>
        <p:nvPicPr>
          <p:cNvPr id="4" name="図 3">
            <a:extLst>
              <a:ext uri="{FF2B5EF4-FFF2-40B4-BE49-F238E27FC236}">
                <a16:creationId xmlns:a16="http://schemas.microsoft.com/office/drawing/2014/main" id="{2FBD9E8F-BA11-3480-8B6D-37AB191828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9374" y="0"/>
            <a:ext cx="3833251" cy="6858000"/>
          </a:xfrm>
          <a:prstGeom prst="rect">
            <a:avLst/>
          </a:prstGeom>
        </p:spPr>
      </p:pic>
    </p:spTree>
    <p:extLst>
      <p:ext uri="{BB962C8B-B14F-4D97-AF65-F5344CB8AC3E}">
        <p14:creationId xmlns:p14="http://schemas.microsoft.com/office/powerpoint/2010/main" val="161275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BB85-9578-3D21-235D-6D7BA45FF424}"/>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A6B6A49-4E99-4485-0E0D-BBA1D141E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7837" y="1714500"/>
            <a:ext cx="1914163" cy="3429000"/>
          </a:xfrm>
          <a:prstGeom prst="rect">
            <a:avLst/>
          </a:prstGeom>
        </p:spPr>
      </p:pic>
      <p:pic>
        <p:nvPicPr>
          <p:cNvPr id="4" name="図 3">
            <a:extLst>
              <a:ext uri="{FF2B5EF4-FFF2-40B4-BE49-F238E27FC236}">
                <a16:creationId xmlns:a16="http://schemas.microsoft.com/office/drawing/2014/main" id="{7BC3B0B4-3511-8E73-B9E8-35417B72D6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614" y="0"/>
            <a:ext cx="3836772" cy="6858000"/>
          </a:xfrm>
          <a:prstGeom prst="rect">
            <a:avLst/>
          </a:prstGeom>
        </p:spPr>
      </p:pic>
      <p:pic>
        <p:nvPicPr>
          <p:cNvPr id="3" name="図 2">
            <a:extLst>
              <a:ext uri="{FF2B5EF4-FFF2-40B4-BE49-F238E27FC236}">
                <a16:creationId xmlns:a16="http://schemas.microsoft.com/office/drawing/2014/main" id="{EE2D7D1E-8F01-C9A6-D541-821843E429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3" y="1714499"/>
            <a:ext cx="1916626" cy="3429001"/>
          </a:xfrm>
          <a:prstGeom prst="rect">
            <a:avLst/>
          </a:prstGeom>
        </p:spPr>
      </p:pic>
    </p:spTree>
    <p:extLst>
      <p:ext uri="{BB962C8B-B14F-4D97-AF65-F5344CB8AC3E}">
        <p14:creationId xmlns:p14="http://schemas.microsoft.com/office/powerpoint/2010/main" val="19990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97C0A6D-D4E1-FFCA-F072-81DF8F4F1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837" y="0"/>
            <a:ext cx="3828326" cy="6858000"/>
          </a:xfrm>
          <a:prstGeom prst="rect">
            <a:avLst/>
          </a:prstGeom>
        </p:spPr>
      </p:pic>
      <p:pic>
        <p:nvPicPr>
          <p:cNvPr id="5" name="図 4">
            <a:extLst>
              <a:ext uri="{FF2B5EF4-FFF2-40B4-BE49-F238E27FC236}">
                <a16:creationId xmlns:a16="http://schemas.microsoft.com/office/drawing/2014/main" id="{0819AB0B-824B-E85E-F9B0-C98F9295B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8915"/>
            <a:ext cx="1915886" cy="3424321"/>
          </a:xfrm>
          <a:prstGeom prst="rect">
            <a:avLst/>
          </a:prstGeom>
        </p:spPr>
      </p:pic>
      <p:pic>
        <p:nvPicPr>
          <p:cNvPr id="7" name="図 6">
            <a:extLst>
              <a:ext uri="{FF2B5EF4-FFF2-40B4-BE49-F238E27FC236}">
                <a16:creationId xmlns:a16="http://schemas.microsoft.com/office/drawing/2014/main" id="{E9FF127B-C140-20BF-9CC7-BE8E5C052E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114" y="1718915"/>
            <a:ext cx="1915886" cy="3434629"/>
          </a:xfrm>
          <a:prstGeom prst="rect">
            <a:avLst/>
          </a:prstGeom>
        </p:spPr>
      </p:pic>
    </p:spTree>
    <p:extLst>
      <p:ext uri="{BB962C8B-B14F-4D97-AF65-F5344CB8AC3E}">
        <p14:creationId xmlns:p14="http://schemas.microsoft.com/office/powerpoint/2010/main" val="1481310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B7F8395-B343-12A0-6ADE-69BEF5104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3254" y="0"/>
            <a:ext cx="3825492" cy="6858000"/>
          </a:xfrm>
          <a:prstGeom prst="rect">
            <a:avLst/>
          </a:prstGeom>
        </p:spPr>
      </p:pic>
      <p:pic>
        <p:nvPicPr>
          <p:cNvPr id="5" name="図 4">
            <a:extLst>
              <a:ext uri="{FF2B5EF4-FFF2-40B4-BE49-F238E27FC236}">
                <a16:creationId xmlns:a16="http://schemas.microsoft.com/office/drawing/2014/main" id="{47B7DFD8-2DC2-9D0B-F851-44EA82E12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4500"/>
            <a:ext cx="1914163" cy="3429000"/>
          </a:xfrm>
          <a:prstGeom prst="rect">
            <a:avLst/>
          </a:prstGeom>
        </p:spPr>
      </p:pic>
      <p:pic>
        <p:nvPicPr>
          <p:cNvPr id="7" name="図 6">
            <a:extLst>
              <a:ext uri="{FF2B5EF4-FFF2-40B4-BE49-F238E27FC236}">
                <a16:creationId xmlns:a16="http://schemas.microsoft.com/office/drawing/2014/main" id="{D05F95E7-5E48-4858-D761-542D4CA84E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7837" y="1714500"/>
            <a:ext cx="1913659" cy="3429000"/>
          </a:xfrm>
          <a:prstGeom prst="rect">
            <a:avLst/>
          </a:prstGeom>
        </p:spPr>
      </p:pic>
      <p:pic>
        <p:nvPicPr>
          <p:cNvPr id="2" name="図 1">
            <a:extLst>
              <a:ext uri="{FF2B5EF4-FFF2-40B4-BE49-F238E27FC236}">
                <a16:creationId xmlns:a16="http://schemas.microsoft.com/office/drawing/2014/main" id="{BB90A3D9-6447-91DC-6466-A1F57F489260}"/>
              </a:ext>
            </a:extLst>
          </p:cNvPr>
          <p:cNvPicPr>
            <a:picLocks noChangeAspect="1"/>
          </p:cNvPicPr>
          <p:nvPr/>
        </p:nvPicPr>
        <p:blipFill>
          <a:blip r:embed="rId6">
            <a:extLst>
              <a:ext uri="{28A0092B-C50C-407E-A947-70E740481C1C}">
                <a14:useLocalDpi xmlns:a14="http://schemas.microsoft.com/office/drawing/2010/main" val="0"/>
              </a:ext>
            </a:extLst>
          </a:blip>
          <a:srcRect t="80461"/>
          <a:stretch>
            <a:fillRect/>
          </a:stretch>
        </p:blipFill>
        <p:spPr>
          <a:xfrm>
            <a:off x="10277837" y="4473526"/>
            <a:ext cx="1915570" cy="669974"/>
          </a:xfrm>
          <a:prstGeom prst="rect">
            <a:avLst/>
          </a:prstGeom>
        </p:spPr>
      </p:pic>
    </p:spTree>
    <p:extLst>
      <p:ext uri="{BB962C8B-B14F-4D97-AF65-F5344CB8AC3E}">
        <p14:creationId xmlns:p14="http://schemas.microsoft.com/office/powerpoint/2010/main" val="353193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052A-D9EA-7FBD-6A0B-3EDF3AD83DC6}"/>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36877ED2-9732-F7EC-97A8-3D9161E17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4" y="1709963"/>
            <a:ext cx="1915886" cy="3434629"/>
          </a:xfrm>
          <a:prstGeom prst="rect">
            <a:avLst/>
          </a:prstGeom>
        </p:spPr>
      </p:pic>
      <p:pic>
        <p:nvPicPr>
          <p:cNvPr id="7" name="図 6">
            <a:extLst>
              <a:ext uri="{FF2B5EF4-FFF2-40B4-BE49-F238E27FC236}">
                <a16:creationId xmlns:a16="http://schemas.microsoft.com/office/drawing/2014/main" id="{608C6BC6-4397-6C8B-17F7-E6238F3B6B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3254" y="3273"/>
            <a:ext cx="3825492" cy="6854727"/>
          </a:xfrm>
          <a:prstGeom prst="rect">
            <a:avLst/>
          </a:prstGeom>
        </p:spPr>
      </p:pic>
      <p:pic>
        <p:nvPicPr>
          <p:cNvPr id="4" name="図 3">
            <a:extLst>
              <a:ext uri="{FF2B5EF4-FFF2-40B4-BE49-F238E27FC236}">
                <a16:creationId xmlns:a16="http://schemas.microsoft.com/office/drawing/2014/main" id="{15EB12A1-56A0-A4C8-925A-12258D4C1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4828" y="1717779"/>
            <a:ext cx="1907172" cy="3426813"/>
          </a:xfrm>
          <a:prstGeom prst="rect">
            <a:avLst/>
          </a:prstGeom>
        </p:spPr>
      </p:pic>
      <p:pic>
        <p:nvPicPr>
          <p:cNvPr id="2" name="図 1">
            <a:extLst>
              <a:ext uri="{FF2B5EF4-FFF2-40B4-BE49-F238E27FC236}">
                <a16:creationId xmlns:a16="http://schemas.microsoft.com/office/drawing/2014/main" id="{D818EC8A-D7CD-737E-6764-63293228A71A}"/>
              </a:ext>
            </a:extLst>
          </p:cNvPr>
          <p:cNvPicPr>
            <a:picLocks noChangeAspect="1"/>
          </p:cNvPicPr>
          <p:nvPr/>
        </p:nvPicPr>
        <p:blipFill>
          <a:blip r:embed="rId6">
            <a:extLst>
              <a:ext uri="{28A0092B-C50C-407E-A947-70E740481C1C}">
                <a14:useLocalDpi xmlns:a14="http://schemas.microsoft.com/office/drawing/2010/main" val="0"/>
              </a:ext>
            </a:extLst>
          </a:blip>
          <a:srcRect t="80205"/>
          <a:stretch>
            <a:fillRect/>
          </a:stretch>
        </p:blipFill>
        <p:spPr>
          <a:xfrm>
            <a:off x="4180430" y="5500468"/>
            <a:ext cx="3831140" cy="1357532"/>
          </a:xfrm>
          <a:prstGeom prst="rect">
            <a:avLst/>
          </a:prstGeom>
        </p:spPr>
      </p:pic>
    </p:spTree>
    <p:extLst>
      <p:ext uri="{BB962C8B-B14F-4D97-AF65-F5344CB8AC3E}">
        <p14:creationId xmlns:p14="http://schemas.microsoft.com/office/powerpoint/2010/main" val="755257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B2E2-5A6B-225C-1016-EE287CE09D8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918AF362-3D66-20BF-A234-E6E1DB49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7" y="1714500"/>
            <a:ext cx="1913659" cy="3429000"/>
          </a:xfrm>
          <a:prstGeom prst="rect">
            <a:avLst/>
          </a:prstGeom>
        </p:spPr>
      </p:pic>
      <p:pic>
        <p:nvPicPr>
          <p:cNvPr id="4" name="図 3">
            <a:extLst>
              <a:ext uri="{FF2B5EF4-FFF2-40B4-BE49-F238E27FC236}">
                <a16:creationId xmlns:a16="http://schemas.microsoft.com/office/drawing/2014/main" id="{AD9850D2-DA09-BA20-56AE-327188C77C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611" y="0"/>
            <a:ext cx="3816778" cy="6858000"/>
          </a:xfrm>
          <a:prstGeom prst="rect">
            <a:avLst/>
          </a:prstGeom>
        </p:spPr>
      </p:pic>
      <p:pic>
        <p:nvPicPr>
          <p:cNvPr id="5" name="図 4">
            <a:extLst>
              <a:ext uri="{FF2B5EF4-FFF2-40B4-BE49-F238E27FC236}">
                <a16:creationId xmlns:a16="http://schemas.microsoft.com/office/drawing/2014/main" id="{8DA307B0-17B5-FE3A-5F0C-0480287BC1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430" y="1714500"/>
            <a:ext cx="1915570" cy="3429000"/>
          </a:xfrm>
          <a:prstGeom prst="rect">
            <a:avLst/>
          </a:prstGeom>
        </p:spPr>
      </p:pic>
      <p:pic>
        <p:nvPicPr>
          <p:cNvPr id="2" name="図 1">
            <a:extLst>
              <a:ext uri="{FF2B5EF4-FFF2-40B4-BE49-F238E27FC236}">
                <a16:creationId xmlns:a16="http://schemas.microsoft.com/office/drawing/2014/main" id="{42B30259-DCA4-5A73-DA4A-B2B477DFF44B}"/>
              </a:ext>
            </a:extLst>
          </p:cNvPr>
          <p:cNvPicPr>
            <a:picLocks noChangeAspect="1"/>
          </p:cNvPicPr>
          <p:nvPr/>
        </p:nvPicPr>
        <p:blipFill>
          <a:blip r:embed="rId5">
            <a:extLst>
              <a:ext uri="{28A0092B-C50C-407E-A947-70E740481C1C}">
                <a14:useLocalDpi xmlns:a14="http://schemas.microsoft.com/office/drawing/2010/main" val="0"/>
              </a:ext>
            </a:extLst>
          </a:blip>
          <a:srcRect t="80461"/>
          <a:stretch>
            <a:fillRect/>
          </a:stretch>
        </p:blipFill>
        <p:spPr>
          <a:xfrm>
            <a:off x="-5648" y="4473526"/>
            <a:ext cx="1915570" cy="669974"/>
          </a:xfrm>
          <a:prstGeom prst="rect">
            <a:avLst/>
          </a:prstGeom>
        </p:spPr>
      </p:pic>
    </p:spTree>
    <p:extLst>
      <p:ext uri="{BB962C8B-B14F-4D97-AF65-F5344CB8AC3E}">
        <p14:creationId xmlns:p14="http://schemas.microsoft.com/office/powerpoint/2010/main" val="2299023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AD68-C12B-41BD-FC43-1EF5497962DC}"/>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2756B671-85CA-79A8-EBB3-366D6FBE9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5" y="1838148"/>
            <a:ext cx="1908389" cy="3429000"/>
          </a:xfrm>
          <a:prstGeom prst="rect">
            <a:avLst/>
          </a:prstGeom>
        </p:spPr>
      </p:pic>
      <p:pic>
        <p:nvPicPr>
          <p:cNvPr id="5" name="図 4">
            <a:extLst>
              <a:ext uri="{FF2B5EF4-FFF2-40B4-BE49-F238E27FC236}">
                <a16:creationId xmlns:a16="http://schemas.microsoft.com/office/drawing/2014/main" id="{5C54B1CB-8317-75CF-672B-D76E30A901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0430" y="0"/>
            <a:ext cx="3831140" cy="6858000"/>
          </a:xfrm>
          <a:prstGeom prst="rect">
            <a:avLst/>
          </a:prstGeom>
        </p:spPr>
      </p:pic>
      <p:pic>
        <p:nvPicPr>
          <p:cNvPr id="3" name="図 2">
            <a:extLst>
              <a:ext uri="{FF2B5EF4-FFF2-40B4-BE49-F238E27FC236}">
                <a16:creationId xmlns:a16="http://schemas.microsoft.com/office/drawing/2014/main" id="{26ABC4A5-AAC7-CD76-A31D-D713B8362A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4896" y="1899972"/>
            <a:ext cx="1917104" cy="3305352"/>
          </a:xfrm>
          <a:prstGeom prst="rect">
            <a:avLst/>
          </a:prstGeom>
        </p:spPr>
      </p:pic>
    </p:spTree>
    <p:extLst>
      <p:ext uri="{BB962C8B-B14F-4D97-AF65-F5344CB8AC3E}">
        <p14:creationId xmlns:p14="http://schemas.microsoft.com/office/powerpoint/2010/main" val="3444993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6FCF-2CCC-5792-6E95-AC02F7F3AF9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D29BBFE5-2DD6-2184-4905-5DE1C5805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42289"/>
            <a:ext cx="1915886" cy="3429566"/>
          </a:xfrm>
          <a:prstGeom prst="rect">
            <a:avLst/>
          </a:prstGeom>
        </p:spPr>
      </p:pic>
      <p:pic>
        <p:nvPicPr>
          <p:cNvPr id="8" name="図 7">
            <a:extLst>
              <a:ext uri="{FF2B5EF4-FFF2-40B4-BE49-F238E27FC236}">
                <a16:creationId xmlns:a16="http://schemas.microsoft.com/office/drawing/2014/main" id="{1A62B7C9-BA11-52CD-9700-060963D2D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113" y="1770927"/>
            <a:ext cx="1915887" cy="3400928"/>
          </a:xfrm>
          <a:prstGeom prst="rect">
            <a:avLst/>
          </a:prstGeom>
        </p:spPr>
      </p:pic>
      <p:pic>
        <p:nvPicPr>
          <p:cNvPr id="10" name="図 9">
            <a:extLst>
              <a:ext uri="{FF2B5EF4-FFF2-40B4-BE49-F238E27FC236}">
                <a16:creationId xmlns:a16="http://schemas.microsoft.com/office/drawing/2014/main" id="{30F0C91B-6F36-48FC-B8CF-727E286539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1514" y="0"/>
            <a:ext cx="3848971" cy="6858000"/>
          </a:xfrm>
          <a:prstGeom prst="rect">
            <a:avLst/>
          </a:prstGeom>
        </p:spPr>
      </p:pic>
    </p:spTree>
    <p:extLst>
      <p:ext uri="{BB962C8B-B14F-4D97-AF65-F5344CB8AC3E}">
        <p14:creationId xmlns:p14="http://schemas.microsoft.com/office/powerpoint/2010/main" val="390715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4A0B-5707-44D4-4727-AC4083519C37}"/>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F0C6F924-22A4-2AF6-A015-87E186CA5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712" y="0"/>
            <a:ext cx="3863402" cy="6858000"/>
          </a:xfrm>
          <a:prstGeom prst="rect">
            <a:avLst/>
          </a:prstGeom>
        </p:spPr>
      </p:pic>
      <p:pic>
        <p:nvPicPr>
          <p:cNvPr id="10" name="図 9">
            <a:extLst>
              <a:ext uri="{FF2B5EF4-FFF2-40B4-BE49-F238E27FC236}">
                <a16:creationId xmlns:a16="http://schemas.microsoft.com/office/drawing/2014/main" id="{F348A76B-C8A4-1EAA-8FAC-D6D9D9C63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08392"/>
            <a:ext cx="1926770" cy="3433071"/>
          </a:xfrm>
          <a:prstGeom prst="rect">
            <a:avLst/>
          </a:prstGeom>
        </p:spPr>
      </p:pic>
      <p:pic>
        <p:nvPicPr>
          <p:cNvPr id="3" name="図 2">
            <a:extLst>
              <a:ext uri="{FF2B5EF4-FFF2-40B4-BE49-F238E27FC236}">
                <a16:creationId xmlns:a16="http://schemas.microsoft.com/office/drawing/2014/main" id="{79F8CC3A-BFD0-00A5-66ED-9B6EDCF60E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1662" y="1708392"/>
            <a:ext cx="1910338" cy="3433071"/>
          </a:xfrm>
          <a:prstGeom prst="rect">
            <a:avLst/>
          </a:prstGeom>
        </p:spPr>
      </p:pic>
    </p:spTree>
    <p:extLst>
      <p:ext uri="{BB962C8B-B14F-4D97-AF65-F5344CB8AC3E}">
        <p14:creationId xmlns:p14="http://schemas.microsoft.com/office/powerpoint/2010/main" val="1553444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8B91-1CCD-864A-1F6C-CE21AA88A02E}"/>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8891E5C1-2425-809E-89F8-C40C8DF4C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5729"/>
            <a:ext cx="1930316" cy="3426541"/>
          </a:xfrm>
          <a:prstGeom prst="rect">
            <a:avLst/>
          </a:prstGeom>
        </p:spPr>
      </p:pic>
      <p:pic>
        <p:nvPicPr>
          <p:cNvPr id="3" name="図 2">
            <a:extLst>
              <a:ext uri="{FF2B5EF4-FFF2-40B4-BE49-F238E27FC236}">
                <a16:creationId xmlns:a16="http://schemas.microsoft.com/office/drawing/2014/main" id="{EE6EE79A-0617-5D56-0ADD-C78B15C3E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9732" y="0"/>
            <a:ext cx="3816145" cy="6858000"/>
          </a:xfrm>
          <a:prstGeom prst="rect">
            <a:avLst/>
          </a:prstGeom>
        </p:spPr>
      </p:pic>
      <p:pic>
        <p:nvPicPr>
          <p:cNvPr id="4" name="図 3">
            <a:extLst>
              <a:ext uri="{FF2B5EF4-FFF2-40B4-BE49-F238E27FC236}">
                <a16:creationId xmlns:a16="http://schemas.microsoft.com/office/drawing/2014/main" id="{149CC16B-2E4E-18ED-5881-2DB6F39CAF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5293" y="1732789"/>
            <a:ext cx="1892277" cy="3392419"/>
          </a:xfrm>
          <a:prstGeom prst="rect">
            <a:avLst/>
          </a:prstGeom>
        </p:spPr>
      </p:pic>
    </p:spTree>
    <p:extLst>
      <p:ext uri="{BB962C8B-B14F-4D97-AF65-F5344CB8AC3E}">
        <p14:creationId xmlns:p14="http://schemas.microsoft.com/office/powerpoint/2010/main" val="2178186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6C1A-AD7F-C563-9667-E32049A2951C}"/>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1A45CA4D-0339-C73C-9A26-95D73AA570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5280"/>
            <a:ext cx="1908073" cy="3429000"/>
          </a:xfrm>
          <a:prstGeom prst="rect">
            <a:avLst/>
          </a:prstGeom>
        </p:spPr>
      </p:pic>
      <p:pic>
        <p:nvPicPr>
          <p:cNvPr id="4" name="図 3">
            <a:extLst>
              <a:ext uri="{FF2B5EF4-FFF2-40B4-BE49-F238E27FC236}">
                <a16:creationId xmlns:a16="http://schemas.microsoft.com/office/drawing/2014/main" id="{A9AE96DD-A16F-AED1-E822-499BA7850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199" y="0"/>
            <a:ext cx="3825363" cy="6858000"/>
          </a:xfrm>
          <a:prstGeom prst="rect">
            <a:avLst/>
          </a:prstGeom>
        </p:spPr>
      </p:pic>
      <p:pic>
        <p:nvPicPr>
          <p:cNvPr id="5" name="図 4">
            <a:extLst>
              <a:ext uri="{FF2B5EF4-FFF2-40B4-BE49-F238E27FC236}">
                <a16:creationId xmlns:a16="http://schemas.microsoft.com/office/drawing/2014/main" id="{F165271F-8C69-F3FE-4417-FB1D71893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3641" y="1709890"/>
            <a:ext cx="1918359" cy="3438219"/>
          </a:xfrm>
          <a:prstGeom prst="rect">
            <a:avLst/>
          </a:prstGeom>
        </p:spPr>
      </p:pic>
    </p:spTree>
    <p:extLst>
      <p:ext uri="{BB962C8B-B14F-4D97-AF65-F5344CB8AC3E}">
        <p14:creationId xmlns:p14="http://schemas.microsoft.com/office/powerpoint/2010/main" val="227623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7793-A168-392D-C6DA-20B99E9BC02D}"/>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F13FA669-1B6B-F6A6-F1F4-CA425C22F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5881"/>
            <a:ext cx="1915886" cy="3434745"/>
          </a:xfrm>
          <a:prstGeom prst="rect">
            <a:avLst/>
          </a:prstGeom>
        </p:spPr>
      </p:pic>
      <p:pic>
        <p:nvPicPr>
          <p:cNvPr id="5" name="図 4">
            <a:extLst>
              <a:ext uri="{FF2B5EF4-FFF2-40B4-BE49-F238E27FC236}">
                <a16:creationId xmlns:a16="http://schemas.microsoft.com/office/drawing/2014/main" id="{855BB90F-5839-6A4F-E696-817EC6402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393" y="0"/>
            <a:ext cx="3826431" cy="6858000"/>
          </a:xfrm>
          <a:prstGeom prst="rect">
            <a:avLst/>
          </a:prstGeom>
        </p:spPr>
      </p:pic>
      <p:pic>
        <p:nvPicPr>
          <p:cNvPr id="6" name="図 5">
            <a:extLst>
              <a:ext uri="{FF2B5EF4-FFF2-40B4-BE49-F238E27FC236}">
                <a16:creationId xmlns:a16="http://schemas.microsoft.com/office/drawing/2014/main" id="{05547362-7CD4-750E-6DFA-B223DD453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8779" y="1705881"/>
            <a:ext cx="2003221" cy="3434746"/>
          </a:xfrm>
          <a:prstGeom prst="rect">
            <a:avLst/>
          </a:prstGeom>
        </p:spPr>
      </p:pic>
    </p:spTree>
    <p:extLst>
      <p:ext uri="{BB962C8B-B14F-4D97-AF65-F5344CB8AC3E}">
        <p14:creationId xmlns:p14="http://schemas.microsoft.com/office/powerpoint/2010/main" val="3162159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4693-0011-6D2A-9812-66517C65D0CB}"/>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5128858E-A7C4-8A61-E704-36580543C7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2107"/>
            <a:ext cx="1915886" cy="3433786"/>
          </a:xfrm>
          <a:prstGeom prst="rect">
            <a:avLst/>
          </a:prstGeom>
        </p:spPr>
      </p:pic>
      <p:pic>
        <p:nvPicPr>
          <p:cNvPr id="6" name="図 5">
            <a:extLst>
              <a:ext uri="{FF2B5EF4-FFF2-40B4-BE49-F238E27FC236}">
                <a16:creationId xmlns:a16="http://schemas.microsoft.com/office/drawing/2014/main" id="{6A8A95C0-82D6-C13E-F913-4253B05EA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070" y="0"/>
            <a:ext cx="3999739" cy="6858000"/>
          </a:xfrm>
          <a:prstGeom prst="rect">
            <a:avLst/>
          </a:prstGeom>
        </p:spPr>
      </p:pic>
    </p:spTree>
    <p:extLst>
      <p:ext uri="{BB962C8B-B14F-4D97-AF65-F5344CB8AC3E}">
        <p14:creationId xmlns:p14="http://schemas.microsoft.com/office/powerpoint/2010/main" val="2651533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737BA06-2FD5-63F1-0C61-42DEF78F8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3914"/>
            <a:ext cx="12192000" cy="6324600"/>
          </a:xfrm>
          <a:prstGeom prst="rect">
            <a:avLst/>
          </a:prstGeom>
        </p:spPr>
      </p:pic>
    </p:spTree>
    <p:extLst>
      <p:ext uri="{BB962C8B-B14F-4D97-AF65-F5344CB8AC3E}">
        <p14:creationId xmlns:p14="http://schemas.microsoft.com/office/powerpoint/2010/main" val="12769103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FA4D5-CE1D-B241-3C55-E5A29DFDDE09}"/>
              </a:ext>
            </a:extLst>
          </p:cNvPr>
          <p:cNvSpPr>
            <a:spLocks noGrp="1"/>
          </p:cNvSpPr>
          <p:nvPr>
            <p:ph type="title"/>
          </p:nvPr>
        </p:nvSpPr>
        <p:spPr>
          <a:xfrm>
            <a:off x="3491719" y="685800"/>
            <a:ext cx="5208562" cy="1456267"/>
          </a:xfrm>
        </p:spPr>
        <p:txBody>
          <a:bodyPr>
            <a:normAutofit/>
          </a:bodyPr>
          <a:lstStyle/>
          <a:p>
            <a:r>
              <a:rPr lang="ja-JP" altLang="en-US" sz="4800" b="1" dirty="0">
                <a:latin typeface="HGS創英角ｺﾞｼｯｸUB" panose="020B0900000000000000" pitchFamily="50" charset="-128"/>
                <a:ea typeface="HGS創英角ｺﾞｼｯｸUB" panose="020B0900000000000000" pitchFamily="50" charset="-128"/>
              </a:rPr>
              <a:t>現在</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今後</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の</a:t>
            </a:r>
            <a:r>
              <a:rPr kumimoji="1" lang="ja-JP" altLang="en-US" sz="4800" b="1" dirty="0">
                <a:latin typeface="HGS創英角ｺﾞｼｯｸUB" panose="020B0900000000000000" pitchFamily="50" charset="-128"/>
                <a:ea typeface="HGS創英角ｺﾞｼｯｸUB" panose="020B0900000000000000" pitchFamily="50" charset="-128"/>
              </a:rPr>
              <a:t>作業</a:t>
            </a:r>
          </a:p>
        </p:txBody>
      </p:sp>
      <p:sp>
        <p:nvSpPr>
          <p:cNvPr id="3" name="コンテンツ プレースホルダー 2">
            <a:extLst>
              <a:ext uri="{FF2B5EF4-FFF2-40B4-BE49-F238E27FC236}">
                <a16:creationId xmlns:a16="http://schemas.microsoft.com/office/drawing/2014/main" id="{C5E02E1F-2A7A-0742-44F0-65E2904AA42C}"/>
              </a:ext>
            </a:extLst>
          </p:cNvPr>
          <p:cNvSpPr>
            <a:spLocks noGrp="1"/>
          </p:cNvSpPr>
          <p:nvPr>
            <p:ph idx="1"/>
          </p:nvPr>
        </p:nvSpPr>
        <p:spPr>
          <a:xfrm>
            <a:off x="1838765" y="2142067"/>
            <a:ext cx="8514470" cy="3649133"/>
          </a:xfrm>
        </p:spPr>
        <p:txBody>
          <a:bodyPr>
            <a:normAutofit/>
          </a:bodyPr>
          <a:lstStyle/>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・パスワード閲覧時に </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生体認証を挟み</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　セキュリティ強化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認証の入力回数制限</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・パスワードを忘れた際の対処法</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err="1">
                <a:latin typeface="HGP創英角ﾎﾟｯﾌﾟ体" panose="040B0A00000000000000" pitchFamily="50" charset="-128"/>
                <a:ea typeface="HGP創英角ﾎﾟｯﾌﾟ体" panose="040B0A00000000000000" pitchFamily="50" charset="-128"/>
              </a:rPr>
              <a:t>ios</a:t>
            </a:r>
            <a:r>
              <a:rPr lang="ja-JP" altLang="en-US" sz="3600" b="1" dirty="0">
                <a:latin typeface="HGP創英角ﾎﾟｯﾌﾟ体" panose="040B0A00000000000000" pitchFamily="50" charset="-128"/>
                <a:ea typeface="HGP創英角ﾎﾟｯﾌﾟ体" panose="040B0A00000000000000" pitchFamily="50" charset="-128"/>
              </a:rPr>
              <a:t>での実装</a:t>
            </a:r>
            <a:endParaRPr lang="en-US" altLang="ja-JP" sz="3600" b="1"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5616101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602AF9-A2E0-EE37-8038-4DC090C9E551}"/>
              </a:ext>
            </a:extLst>
          </p:cNvPr>
          <p:cNvSpPr txBox="1"/>
          <p:nvPr/>
        </p:nvSpPr>
        <p:spPr>
          <a:xfrm>
            <a:off x="0" y="2246384"/>
            <a:ext cx="1111202"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あ</a:t>
            </a:r>
          </a:p>
        </p:txBody>
      </p:sp>
      <p:sp>
        <p:nvSpPr>
          <p:cNvPr id="5" name="テキスト ボックス 4">
            <a:extLst>
              <a:ext uri="{FF2B5EF4-FFF2-40B4-BE49-F238E27FC236}">
                <a16:creationId xmlns:a16="http://schemas.microsoft.com/office/drawing/2014/main" id="{B1C86698-96D9-4E64-8BDC-C75D45D530A4}"/>
              </a:ext>
            </a:extLst>
          </p:cNvPr>
          <p:cNvSpPr txBox="1"/>
          <p:nvPr/>
        </p:nvSpPr>
        <p:spPr>
          <a:xfrm>
            <a:off x="1110018" y="2259228"/>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り</a:t>
            </a:r>
          </a:p>
        </p:txBody>
      </p:sp>
      <p:sp>
        <p:nvSpPr>
          <p:cNvPr id="6" name="テキスト ボックス 5">
            <a:extLst>
              <a:ext uri="{FF2B5EF4-FFF2-40B4-BE49-F238E27FC236}">
                <a16:creationId xmlns:a16="http://schemas.microsoft.com/office/drawing/2014/main" id="{A86C384F-6BC1-6DF9-236A-8E7C11956E2C}"/>
              </a:ext>
            </a:extLst>
          </p:cNvPr>
          <p:cNvSpPr txBox="1"/>
          <p:nvPr/>
        </p:nvSpPr>
        <p:spPr>
          <a:xfrm>
            <a:off x="2218014" y="2243947"/>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が</a:t>
            </a:r>
          </a:p>
        </p:txBody>
      </p:sp>
      <p:sp>
        <p:nvSpPr>
          <p:cNvPr id="7" name="テキスト ボックス 6">
            <a:extLst>
              <a:ext uri="{FF2B5EF4-FFF2-40B4-BE49-F238E27FC236}">
                <a16:creationId xmlns:a16="http://schemas.microsoft.com/office/drawing/2014/main" id="{91B52602-F6A6-190D-8FB2-6D26FA3EEB2D}"/>
              </a:ext>
            </a:extLst>
          </p:cNvPr>
          <p:cNvSpPr txBox="1"/>
          <p:nvPr/>
        </p:nvSpPr>
        <p:spPr>
          <a:xfrm>
            <a:off x="3326010" y="2243953"/>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と</a:t>
            </a:r>
          </a:p>
        </p:txBody>
      </p:sp>
      <p:sp>
        <p:nvSpPr>
          <p:cNvPr id="8" name="テキスト ボックス 7">
            <a:extLst>
              <a:ext uri="{FF2B5EF4-FFF2-40B4-BE49-F238E27FC236}">
                <a16:creationId xmlns:a16="http://schemas.microsoft.com/office/drawing/2014/main" id="{5CB7165F-0462-8141-CE8E-D7D0415FAAA6}"/>
              </a:ext>
            </a:extLst>
          </p:cNvPr>
          <p:cNvSpPr txBox="1"/>
          <p:nvPr/>
        </p:nvSpPr>
        <p:spPr>
          <a:xfrm>
            <a:off x="4434006" y="2243954"/>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う</a:t>
            </a:r>
          </a:p>
        </p:txBody>
      </p:sp>
      <p:sp>
        <p:nvSpPr>
          <p:cNvPr id="9" name="テキスト ボックス 8">
            <a:extLst>
              <a:ext uri="{FF2B5EF4-FFF2-40B4-BE49-F238E27FC236}">
                <a16:creationId xmlns:a16="http://schemas.microsoft.com/office/drawing/2014/main" id="{856E4BCD-668F-D808-BCD7-194653AD5A0C}"/>
              </a:ext>
            </a:extLst>
          </p:cNvPr>
          <p:cNvSpPr txBox="1"/>
          <p:nvPr/>
        </p:nvSpPr>
        <p:spPr>
          <a:xfrm>
            <a:off x="5542002" y="2243954"/>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ご</a:t>
            </a:r>
          </a:p>
        </p:txBody>
      </p:sp>
      <p:sp>
        <p:nvSpPr>
          <p:cNvPr id="10" name="テキスト ボックス 9">
            <a:extLst>
              <a:ext uri="{FF2B5EF4-FFF2-40B4-BE49-F238E27FC236}">
                <a16:creationId xmlns:a16="http://schemas.microsoft.com/office/drawing/2014/main" id="{0A4B444B-FE41-851A-66B4-B42CD77E3363}"/>
              </a:ext>
            </a:extLst>
          </p:cNvPr>
          <p:cNvSpPr txBox="1"/>
          <p:nvPr/>
        </p:nvSpPr>
        <p:spPr>
          <a:xfrm>
            <a:off x="6649998" y="2259228"/>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ざ</a:t>
            </a:r>
          </a:p>
        </p:txBody>
      </p:sp>
      <p:sp>
        <p:nvSpPr>
          <p:cNvPr id="11" name="テキスト ボックス 10">
            <a:extLst>
              <a:ext uri="{FF2B5EF4-FFF2-40B4-BE49-F238E27FC236}">
                <a16:creationId xmlns:a16="http://schemas.microsoft.com/office/drawing/2014/main" id="{55CCB344-96B4-87AC-6099-9E8C695DF6E3}"/>
              </a:ext>
            </a:extLst>
          </p:cNvPr>
          <p:cNvSpPr txBox="1"/>
          <p:nvPr/>
        </p:nvSpPr>
        <p:spPr>
          <a:xfrm>
            <a:off x="7757994" y="2259227"/>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い</a:t>
            </a:r>
          </a:p>
        </p:txBody>
      </p:sp>
      <p:sp>
        <p:nvSpPr>
          <p:cNvPr id="12" name="テキスト ボックス 11">
            <a:extLst>
              <a:ext uri="{FF2B5EF4-FFF2-40B4-BE49-F238E27FC236}">
                <a16:creationId xmlns:a16="http://schemas.microsoft.com/office/drawing/2014/main" id="{B0874A65-E439-5F01-4A9F-B7B589A007AA}"/>
              </a:ext>
            </a:extLst>
          </p:cNvPr>
          <p:cNvSpPr txBox="1"/>
          <p:nvPr/>
        </p:nvSpPr>
        <p:spPr>
          <a:xfrm>
            <a:off x="8865990"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ま</a:t>
            </a:r>
          </a:p>
        </p:txBody>
      </p:sp>
      <p:sp>
        <p:nvSpPr>
          <p:cNvPr id="13" name="テキスト ボックス 12">
            <a:extLst>
              <a:ext uri="{FF2B5EF4-FFF2-40B4-BE49-F238E27FC236}">
                <a16:creationId xmlns:a16="http://schemas.microsoft.com/office/drawing/2014/main" id="{B486E386-D414-DFF1-90A8-E7513D8D3796}"/>
              </a:ext>
            </a:extLst>
          </p:cNvPr>
          <p:cNvSpPr txBox="1"/>
          <p:nvPr/>
        </p:nvSpPr>
        <p:spPr>
          <a:xfrm>
            <a:off x="9973986"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し</a:t>
            </a:r>
          </a:p>
        </p:txBody>
      </p:sp>
      <p:sp>
        <p:nvSpPr>
          <p:cNvPr id="14" name="テキスト ボックス 13">
            <a:extLst>
              <a:ext uri="{FF2B5EF4-FFF2-40B4-BE49-F238E27FC236}">
                <a16:creationId xmlns:a16="http://schemas.microsoft.com/office/drawing/2014/main" id="{878312EC-D745-DC89-2435-39ABB6DEB252}"/>
              </a:ext>
            </a:extLst>
          </p:cNvPr>
          <p:cNvSpPr txBox="1"/>
          <p:nvPr/>
        </p:nvSpPr>
        <p:spPr>
          <a:xfrm>
            <a:off x="11081982"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た</a:t>
            </a:r>
          </a:p>
        </p:txBody>
      </p:sp>
    </p:spTree>
    <p:extLst>
      <p:ext uri="{BB962C8B-B14F-4D97-AF65-F5344CB8AC3E}">
        <p14:creationId xmlns:p14="http://schemas.microsoft.com/office/powerpoint/2010/main" val="150902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afterEffect">
                                  <p:stCondLst>
                                    <p:cond delay="0"/>
                                  </p:stCondLst>
                                  <p:iterate type="lt">
                                    <p:tmPct val="10000"/>
                                  </p:iterate>
                                  <p:childTnLst>
                                    <p:animMotion origin="layout" path="M -2.91667E-6 3.7037E-6 L -2.91667E-6 -0.07223 " pathEditMode="relative" rAng="0" ptsTypes="AA">
                                      <p:cBhvr>
                                        <p:cTn id="6" dur="250" accel="50000" decel="50000" autoRev="1" fill="hold">
                                          <p:stCondLst>
                                            <p:cond delay="0"/>
                                          </p:stCondLst>
                                        </p:cTn>
                                        <p:tgtEl>
                                          <p:spTgt spid="4"/>
                                        </p:tgtEl>
                                        <p:attrNameLst>
                                          <p:attrName>ppt_x</p:attrName>
                                          <p:attrName>ppt_y</p:attrName>
                                        </p:attrNameLst>
                                      </p:cBhvr>
                                      <p:rCtr x="0" y="-3611"/>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par>
                                <p:cTn id="11" presetID="34" presetClass="emph" presetSubtype="0" fill="hold" nodeType="withEffect">
                                  <p:stCondLst>
                                    <p:cond delay="100"/>
                                  </p:stCondLst>
                                  <p:iterate type="lt">
                                    <p:tmPct val="10000"/>
                                  </p:iterate>
                                  <p:childTnLst>
                                    <p:animMotion origin="layout" path="M 1.875E-6 -2.22222E-6 L 1.875E-6 -0.07222 " pathEditMode="relative" rAng="0" ptsTypes="AA">
                                      <p:cBhvr>
                                        <p:cTn id="12" dur="250" accel="50000" decel="50000" autoRev="1" fill="hold">
                                          <p:stCondLst>
                                            <p:cond delay="0"/>
                                          </p:stCondLst>
                                        </p:cTn>
                                        <p:tgtEl>
                                          <p:spTgt spid="5">
                                            <p:txEl>
                                              <p:pRg st="0" end="0"/>
                                            </p:txEl>
                                          </p:spTgt>
                                        </p:tgtEl>
                                        <p:attrNameLst>
                                          <p:attrName>ppt_x</p:attrName>
                                          <p:attrName>ppt_y</p:attrName>
                                        </p:attrNameLst>
                                      </p:cBhvr>
                                      <p:rCtr x="0" y="-3611"/>
                                    </p:animMotion>
                                    <p:animRot by="1500000">
                                      <p:cBhvr>
                                        <p:cTn id="13" dur="125" fill="hold">
                                          <p:stCondLst>
                                            <p:cond delay="0"/>
                                          </p:stCondLst>
                                        </p:cTn>
                                        <p:tgtEl>
                                          <p:spTgt spid="5">
                                            <p:txEl>
                                              <p:pRg st="0" end="0"/>
                                            </p:txEl>
                                          </p:spTgt>
                                        </p:tgtEl>
                                        <p:attrNameLst>
                                          <p:attrName>r</p:attrName>
                                        </p:attrNameLst>
                                      </p:cBhvr>
                                    </p:animRot>
                                    <p:animRot by="-1500000">
                                      <p:cBhvr>
                                        <p:cTn id="14" dur="125" fill="hold">
                                          <p:stCondLst>
                                            <p:cond delay="125"/>
                                          </p:stCondLst>
                                        </p:cTn>
                                        <p:tgtEl>
                                          <p:spTgt spid="5">
                                            <p:txEl>
                                              <p:pRg st="0" end="0"/>
                                            </p:txEl>
                                          </p:spTgt>
                                        </p:tgtEl>
                                        <p:attrNameLst>
                                          <p:attrName>r</p:attrName>
                                        </p:attrNameLst>
                                      </p:cBhvr>
                                    </p:animRot>
                                    <p:animRot by="-1500000">
                                      <p:cBhvr>
                                        <p:cTn id="15" dur="125" fill="hold">
                                          <p:stCondLst>
                                            <p:cond delay="250"/>
                                          </p:stCondLst>
                                        </p:cTn>
                                        <p:tgtEl>
                                          <p:spTgt spid="5">
                                            <p:txEl>
                                              <p:pRg st="0" end="0"/>
                                            </p:txEl>
                                          </p:spTgt>
                                        </p:tgtEl>
                                        <p:attrNameLst>
                                          <p:attrName>r</p:attrName>
                                        </p:attrNameLst>
                                      </p:cBhvr>
                                    </p:animRot>
                                    <p:animRot by="1500000">
                                      <p:cBhvr>
                                        <p:cTn id="16" dur="125" fill="hold">
                                          <p:stCondLst>
                                            <p:cond delay="375"/>
                                          </p:stCondLst>
                                        </p:cTn>
                                        <p:tgtEl>
                                          <p:spTgt spid="5">
                                            <p:txEl>
                                              <p:pRg st="0" end="0"/>
                                            </p:txEl>
                                          </p:spTgt>
                                        </p:tgtEl>
                                        <p:attrNameLst>
                                          <p:attrName>r</p:attrName>
                                        </p:attrNameLst>
                                      </p:cBhvr>
                                    </p:animRot>
                                  </p:childTnLst>
                                </p:cTn>
                              </p:par>
                              <p:par>
                                <p:cTn id="17" presetID="34" presetClass="emph" presetSubtype="0" fill="hold" nodeType="withEffect">
                                  <p:stCondLst>
                                    <p:cond delay="200"/>
                                  </p:stCondLst>
                                  <p:iterate type="lt">
                                    <p:tmPct val="10000"/>
                                  </p:iterate>
                                  <p:childTnLst>
                                    <p:animMotion origin="layout" path="M -3.54167E-6 1.11111E-6 L -3.54167E-6 -0.07222 " pathEditMode="relative" rAng="0" ptsTypes="AA">
                                      <p:cBhvr>
                                        <p:cTn id="18" dur="250" accel="50000" decel="50000" autoRev="1" fill="hold">
                                          <p:stCondLst>
                                            <p:cond delay="0"/>
                                          </p:stCondLst>
                                        </p:cTn>
                                        <p:tgtEl>
                                          <p:spTgt spid="6">
                                            <p:txEl>
                                              <p:pRg st="0" end="0"/>
                                            </p:txEl>
                                          </p:spTgt>
                                        </p:tgtEl>
                                        <p:attrNameLst>
                                          <p:attrName>ppt_x</p:attrName>
                                          <p:attrName>ppt_y</p:attrName>
                                        </p:attrNameLst>
                                      </p:cBhvr>
                                      <p:rCtr x="0" y="-3611"/>
                                    </p:animMotion>
                                    <p:animRot by="1500000">
                                      <p:cBhvr>
                                        <p:cTn id="19" dur="125" fill="hold">
                                          <p:stCondLst>
                                            <p:cond delay="0"/>
                                          </p:stCondLst>
                                        </p:cTn>
                                        <p:tgtEl>
                                          <p:spTgt spid="6">
                                            <p:txEl>
                                              <p:pRg st="0" end="0"/>
                                            </p:txEl>
                                          </p:spTgt>
                                        </p:tgtEl>
                                        <p:attrNameLst>
                                          <p:attrName>r</p:attrName>
                                        </p:attrNameLst>
                                      </p:cBhvr>
                                    </p:animRot>
                                    <p:animRot by="-1500000">
                                      <p:cBhvr>
                                        <p:cTn id="20" dur="125" fill="hold">
                                          <p:stCondLst>
                                            <p:cond delay="125"/>
                                          </p:stCondLst>
                                        </p:cTn>
                                        <p:tgtEl>
                                          <p:spTgt spid="6">
                                            <p:txEl>
                                              <p:pRg st="0" end="0"/>
                                            </p:txEl>
                                          </p:spTgt>
                                        </p:tgtEl>
                                        <p:attrNameLst>
                                          <p:attrName>r</p:attrName>
                                        </p:attrNameLst>
                                      </p:cBhvr>
                                    </p:animRot>
                                    <p:animRot by="-1500000">
                                      <p:cBhvr>
                                        <p:cTn id="21" dur="125" fill="hold">
                                          <p:stCondLst>
                                            <p:cond delay="250"/>
                                          </p:stCondLst>
                                        </p:cTn>
                                        <p:tgtEl>
                                          <p:spTgt spid="6">
                                            <p:txEl>
                                              <p:pRg st="0" end="0"/>
                                            </p:txEl>
                                          </p:spTgt>
                                        </p:tgtEl>
                                        <p:attrNameLst>
                                          <p:attrName>r</p:attrName>
                                        </p:attrNameLst>
                                      </p:cBhvr>
                                    </p:animRot>
                                    <p:animRot by="1500000">
                                      <p:cBhvr>
                                        <p:cTn id="22" dur="125" fill="hold">
                                          <p:stCondLst>
                                            <p:cond delay="375"/>
                                          </p:stCondLst>
                                        </p:cTn>
                                        <p:tgtEl>
                                          <p:spTgt spid="6">
                                            <p:txEl>
                                              <p:pRg st="0" end="0"/>
                                            </p:txEl>
                                          </p:spTgt>
                                        </p:tgtEl>
                                        <p:attrNameLst>
                                          <p:attrName>r</p:attrName>
                                        </p:attrNameLst>
                                      </p:cBhvr>
                                    </p:animRot>
                                  </p:childTnLst>
                                </p:cTn>
                              </p:par>
                              <p:par>
                                <p:cTn id="23" presetID="34" presetClass="emph" presetSubtype="0" fill="hold" grpId="0" nodeType="withEffect">
                                  <p:stCondLst>
                                    <p:cond delay="300"/>
                                  </p:stCondLst>
                                  <p:iterate type="lt">
                                    <p:tmPct val="10000"/>
                                  </p:iterate>
                                  <p:childTnLst>
                                    <p:animMotion origin="layout" path="M 1.04167E-6 1.11111E-6 L 1.04167E-6 -0.07222 " pathEditMode="relative" rAng="0" ptsTypes="AA">
                                      <p:cBhvr>
                                        <p:cTn id="24" dur="250" accel="50000" decel="50000" autoRev="1" fill="hold">
                                          <p:stCondLst>
                                            <p:cond delay="0"/>
                                          </p:stCondLst>
                                        </p:cTn>
                                        <p:tgtEl>
                                          <p:spTgt spid="7">
                                            <p:txEl>
                                              <p:pRg st="0" end="0"/>
                                            </p:txEl>
                                          </p:spTgt>
                                        </p:tgtEl>
                                        <p:attrNameLst>
                                          <p:attrName>ppt_x</p:attrName>
                                          <p:attrName>ppt_y</p:attrName>
                                        </p:attrNameLst>
                                      </p:cBhvr>
                                      <p:rCtr x="0" y="-3611"/>
                                    </p:animMotion>
                                    <p:animRot by="1500000">
                                      <p:cBhvr>
                                        <p:cTn id="25" dur="125" fill="hold">
                                          <p:stCondLst>
                                            <p:cond delay="0"/>
                                          </p:stCondLst>
                                        </p:cTn>
                                        <p:tgtEl>
                                          <p:spTgt spid="7">
                                            <p:txEl>
                                              <p:pRg st="0" end="0"/>
                                            </p:txEl>
                                          </p:spTgt>
                                        </p:tgtEl>
                                        <p:attrNameLst>
                                          <p:attrName>r</p:attrName>
                                        </p:attrNameLst>
                                      </p:cBhvr>
                                    </p:animRot>
                                    <p:animRot by="-1500000">
                                      <p:cBhvr>
                                        <p:cTn id="26" dur="125" fill="hold">
                                          <p:stCondLst>
                                            <p:cond delay="125"/>
                                          </p:stCondLst>
                                        </p:cTn>
                                        <p:tgtEl>
                                          <p:spTgt spid="7">
                                            <p:txEl>
                                              <p:pRg st="0" end="0"/>
                                            </p:txEl>
                                          </p:spTgt>
                                        </p:tgtEl>
                                        <p:attrNameLst>
                                          <p:attrName>r</p:attrName>
                                        </p:attrNameLst>
                                      </p:cBhvr>
                                    </p:animRot>
                                    <p:animRot by="-1500000">
                                      <p:cBhvr>
                                        <p:cTn id="27" dur="125" fill="hold">
                                          <p:stCondLst>
                                            <p:cond delay="250"/>
                                          </p:stCondLst>
                                        </p:cTn>
                                        <p:tgtEl>
                                          <p:spTgt spid="7">
                                            <p:txEl>
                                              <p:pRg st="0" end="0"/>
                                            </p:txEl>
                                          </p:spTgt>
                                        </p:tgtEl>
                                        <p:attrNameLst>
                                          <p:attrName>r</p:attrName>
                                        </p:attrNameLst>
                                      </p:cBhvr>
                                    </p:animRot>
                                    <p:animRot by="1500000">
                                      <p:cBhvr>
                                        <p:cTn id="28" dur="125" fill="hold">
                                          <p:stCondLst>
                                            <p:cond delay="375"/>
                                          </p:stCondLst>
                                        </p:cTn>
                                        <p:tgtEl>
                                          <p:spTgt spid="7">
                                            <p:txEl>
                                              <p:pRg st="0" end="0"/>
                                            </p:txEl>
                                          </p:spTgt>
                                        </p:tgtEl>
                                        <p:attrNameLst>
                                          <p:attrName>r</p:attrName>
                                        </p:attrNameLst>
                                      </p:cBhvr>
                                    </p:animRot>
                                  </p:childTnLst>
                                </p:cTn>
                              </p:par>
                              <p:par>
                                <p:cTn id="29" presetID="34" presetClass="emph" presetSubtype="0" fill="hold" nodeType="withEffect">
                                  <p:stCondLst>
                                    <p:cond delay="400"/>
                                  </p:stCondLst>
                                  <p:iterate type="lt">
                                    <p:tmPct val="10000"/>
                                  </p:iterate>
                                  <p:childTnLst>
                                    <p:animMotion origin="layout" path="M -4.375E-6 1.11111E-6 L -4.375E-6 -0.07222 " pathEditMode="relative" rAng="0" ptsTypes="AA">
                                      <p:cBhvr>
                                        <p:cTn id="30" dur="250" accel="50000" decel="50000" autoRev="1" fill="hold">
                                          <p:stCondLst>
                                            <p:cond delay="0"/>
                                          </p:stCondLst>
                                        </p:cTn>
                                        <p:tgtEl>
                                          <p:spTgt spid="8">
                                            <p:txEl>
                                              <p:pRg st="0" end="0"/>
                                            </p:txEl>
                                          </p:spTgt>
                                        </p:tgtEl>
                                        <p:attrNameLst>
                                          <p:attrName>ppt_x</p:attrName>
                                          <p:attrName>ppt_y</p:attrName>
                                        </p:attrNameLst>
                                      </p:cBhvr>
                                      <p:rCtr x="0" y="-3611"/>
                                    </p:animMotion>
                                    <p:animRot by="1500000">
                                      <p:cBhvr>
                                        <p:cTn id="31" dur="125" fill="hold">
                                          <p:stCondLst>
                                            <p:cond delay="0"/>
                                          </p:stCondLst>
                                        </p:cTn>
                                        <p:tgtEl>
                                          <p:spTgt spid="8">
                                            <p:txEl>
                                              <p:pRg st="0" end="0"/>
                                            </p:txEl>
                                          </p:spTgt>
                                        </p:tgtEl>
                                        <p:attrNameLst>
                                          <p:attrName>r</p:attrName>
                                        </p:attrNameLst>
                                      </p:cBhvr>
                                    </p:animRot>
                                    <p:animRot by="-1500000">
                                      <p:cBhvr>
                                        <p:cTn id="32" dur="125" fill="hold">
                                          <p:stCondLst>
                                            <p:cond delay="125"/>
                                          </p:stCondLst>
                                        </p:cTn>
                                        <p:tgtEl>
                                          <p:spTgt spid="8">
                                            <p:txEl>
                                              <p:pRg st="0" end="0"/>
                                            </p:txEl>
                                          </p:spTgt>
                                        </p:tgtEl>
                                        <p:attrNameLst>
                                          <p:attrName>r</p:attrName>
                                        </p:attrNameLst>
                                      </p:cBhvr>
                                    </p:animRot>
                                    <p:animRot by="-1500000">
                                      <p:cBhvr>
                                        <p:cTn id="33" dur="125" fill="hold">
                                          <p:stCondLst>
                                            <p:cond delay="250"/>
                                          </p:stCondLst>
                                        </p:cTn>
                                        <p:tgtEl>
                                          <p:spTgt spid="8">
                                            <p:txEl>
                                              <p:pRg st="0" end="0"/>
                                            </p:txEl>
                                          </p:spTgt>
                                        </p:tgtEl>
                                        <p:attrNameLst>
                                          <p:attrName>r</p:attrName>
                                        </p:attrNameLst>
                                      </p:cBhvr>
                                    </p:animRot>
                                    <p:animRot by="1500000">
                                      <p:cBhvr>
                                        <p:cTn id="34" dur="125" fill="hold">
                                          <p:stCondLst>
                                            <p:cond delay="375"/>
                                          </p:stCondLst>
                                        </p:cTn>
                                        <p:tgtEl>
                                          <p:spTgt spid="8">
                                            <p:txEl>
                                              <p:pRg st="0" end="0"/>
                                            </p:txEl>
                                          </p:spTgt>
                                        </p:tgtEl>
                                        <p:attrNameLst>
                                          <p:attrName>r</p:attrName>
                                        </p:attrNameLst>
                                      </p:cBhvr>
                                    </p:animRot>
                                  </p:childTnLst>
                                </p:cTn>
                              </p:par>
                              <p:par>
                                <p:cTn id="35" presetID="34" presetClass="emph" presetSubtype="0" fill="hold" nodeType="withEffect">
                                  <p:stCondLst>
                                    <p:cond delay="500"/>
                                  </p:stCondLst>
                                  <p:iterate type="lt">
                                    <p:tmPct val="10000"/>
                                  </p:iterate>
                                  <p:childTnLst>
                                    <p:animMotion origin="layout" path="M 2.08333E-7 1.11111E-6 L 2.08333E-7 -0.07222 " pathEditMode="relative" rAng="0" ptsTypes="AA">
                                      <p:cBhvr>
                                        <p:cTn id="36" dur="250" accel="50000" decel="50000" autoRev="1" fill="hold">
                                          <p:stCondLst>
                                            <p:cond delay="0"/>
                                          </p:stCondLst>
                                        </p:cTn>
                                        <p:tgtEl>
                                          <p:spTgt spid="9">
                                            <p:txEl>
                                              <p:pRg st="0" end="0"/>
                                            </p:txEl>
                                          </p:spTgt>
                                        </p:tgtEl>
                                        <p:attrNameLst>
                                          <p:attrName>ppt_x</p:attrName>
                                          <p:attrName>ppt_y</p:attrName>
                                        </p:attrNameLst>
                                      </p:cBhvr>
                                      <p:rCtr x="0" y="-3611"/>
                                    </p:animMotion>
                                    <p:animRot by="1500000">
                                      <p:cBhvr>
                                        <p:cTn id="37" dur="125" fill="hold">
                                          <p:stCondLst>
                                            <p:cond delay="0"/>
                                          </p:stCondLst>
                                        </p:cTn>
                                        <p:tgtEl>
                                          <p:spTgt spid="9">
                                            <p:txEl>
                                              <p:pRg st="0" end="0"/>
                                            </p:txEl>
                                          </p:spTgt>
                                        </p:tgtEl>
                                        <p:attrNameLst>
                                          <p:attrName>r</p:attrName>
                                        </p:attrNameLst>
                                      </p:cBhvr>
                                    </p:animRot>
                                    <p:animRot by="-1500000">
                                      <p:cBhvr>
                                        <p:cTn id="38" dur="125" fill="hold">
                                          <p:stCondLst>
                                            <p:cond delay="125"/>
                                          </p:stCondLst>
                                        </p:cTn>
                                        <p:tgtEl>
                                          <p:spTgt spid="9">
                                            <p:txEl>
                                              <p:pRg st="0" end="0"/>
                                            </p:txEl>
                                          </p:spTgt>
                                        </p:tgtEl>
                                        <p:attrNameLst>
                                          <p:attrName>r</p:attrName>
                                        </p:attrNameLst>
                                      </p:cBhvr>
                                    </p:animRot>
                                    <p:animRot by="-1500000">
                                      <p:cBhvr>
                                        <p:cTn id="39" dur="125" fill="hold">
                                          <p:stCondLst>
                                            <p:cond delay="250"/>
                                          </p:stCondLst>
                                        </p:cTn>
                                        <p:tgtEl>
                                          <p:spTgt spid="9">
                                            <p:txEl>
                                              <p:pRg st="0" end="0"/>
                                            </p:txEl>
                                          </p:spTgt>
                                        </p:tgtEl>
                                        <p:attrNameLst>
                                          <p:attrName>r</p:attrName>
                                        </p:attrNameLst>
                                      </p:cBhvr>
                                    </p:animRot>
                                    <p:animRot by="1500000">
                                      <p:cBhvr>
                                        <p:cTn id="40" dur="125" fill="hold">
                                          <p:stCondLst>
                                            <p:cond delay="375"/>
                                          </p:stCondLst>
                                        </p:cTn>
                                        <p:tgtEl>
                                          <p:spTgt spid="9">
                                            <p:txEl>
                                              <p:pRg st="0" end="0"/>
                                            </p:txEl>
                                          </p:spTgt>
                                        </p:tgtEl>
                                        <p:attrNameLst>
                                          <p:attrName>r</p:attrName>
                                        </p:attrNameLst>
                                      </p:cBhvr>
                                    </p:animRot>
                                  </p:childTnLst>
                                </p:cTn>
                              </p:par>
                              <p:par>
                                <p:cTn id="41" presetID="34" presetClass="emph" presetSubtype="0" fill="hold" nodeType="withEffect">
                                  <p:stCondLst>
                                    <p:cond delay="600"/>
                                  </p:stCondLst>
                                  <p:iterate type="lt">
                                    <p:tmPct val="10000"/>
                                  </p:iterate>
                                  <p:childTnLst>
                                    <p:animMotion origin="layout" path="M 4.79167E-6 -2.22222E-6 L 4.79167E-6 -0.07222 " pathEditMode="relative" rAng="0" ptsTypes="AA">
                                      <p:cBhvr>
                                        <p:cTn id="42" dur="250" accel="50000" decel="50000" autoRev="1" fill="hold">
                                          <p:stCondLst>
                                            <p:cond delay="0"/>
                                          </p:stCondLst>
                                        </p:cTn>
                                        <p:tgtEl>
                                          <p:spTgt spid="10">
                                            <p:txEl>
                                              <p:pRg st="0" end="0"/>
                                            </p:txEl>
                                          </p:spTgt>
                                        </p:tgtEl>
                                        <p:attrNameLst>
                                          <p:attrName>ppt_x</p:attrName>
                                          <p:attrName>ppt_y</p:attrName>
                                        </p:attrNameLst>
                                      </p:cBhvr>
                                      <p:rCtr x="0" y="-3611"/>
                                    </p:animMotion>
                                    <p:animRot by="1500000">
                                      <p:cBhvr>
                                        <p:cTn id="43" dur="125" fill="hold">
                                          <p:stCondLst>
                                            <p:cond delay="0"/>
                                          </p:stCondLst>
                                        </p:cTn>
                                        <p:tgtEl>
                                          <p:spTgt spid="10">
                                            <p:txEl>
                                              <p:pRg st="0" end="0"/>
                                            </p:txEl>
                                          </p:spTgt>
                                        </p:tgtEl>
                                        <p:attrNameLst>
                                          <p:attrName>r</p:attrName>
                                        </p:attrNameLst>
                                      </p:cBhvr>
                                    </p:animRot>
                                    <p:animRot by="-1500000">
                                      <p:cBhvr>
                                        <p:cTn id="44" dur="125" fill="hold">
                                          <p:stCondLst>
                                            <p:cond delay="125"/>
                                          </p:stCondLst>
                                        </p:cTn>
                                        <p:tgtEl>
                                          <p:spTgt spid="10">
                                            <p:txEl>
                                              <p:pRg st="0" end="0"/>
                                            </p:txEl>
                                          </p:spTgt>
                                        </p:tgtEl>
                                        <p:attrNameLst>
                                          <p:attrName>r</p:attrName>
                                        </p:attrNameLst>
                                      </p:cBhvr>
                                    </p:animRot>
                                    <p:animRot by="-1500000">
                                      <p:cBhvr>
                                        <p:cTn id="45" dur="125" fill="hold">
                                          <p:stCondLst>
                                            <p:cond delay="250"/>
                                          </p:stCondLst>
                                        </p:cTn>
                                        <p:tgtEl>
                                          <p:spTgt spid="10">
                                            <p:txEl>
                                              <p:pRg st="0" end="0"/>
                                            </p:txEl>
                                          </p:spTgt>
                                        </p:tgtEl>
                                        <p:attrNameLst>
                                          <p:attrName>r</p:attrName>
                                        </p:attrNameLst>
                                      </p:cBhvr>
                                    </p:animRot>
                                    <p:animRot by="1500000">
                                      <p:cBhvr>
                                        <p:cTn id="46" dur="125" fill="hold">
                                          <p:stCondLst>
                                            <p:cond delay="375"/>
                                          </p:stCondLst>
                                        </p:cTn>
                                        <p:tgtEl>
                                          <p:spTgt spid="10">
                                            <p:txEl>
                                              <p:pRg st="0" end="0"/>
                                            </p:txEl>
                                          </p:spTgt>
                                        </p:tgtEl>
                                        <p:attrNameLst>
                                          <p:attrName>r</p:attrName>
                                        </p:attrNameLst>
                                      </p:cBhvr>
                                    </p:animRot>
                                  </p:childTnLst>
                                </p:cTn>
                              </p:par>
                              <p:par>
                                <p:cTn id="47" presetID="34" presetClass="emph" presetSubtype="0" fill="hold" nodeType="withEffect">
                                  <p:stCondLst>
                                    <p:cond delay="700"/>
                                  </p:stCondLst>
                                  <p:iterate type="lt">
                                    <p:tmPct val="10000"/>
                                  </p:iterate>
                                  <p:childTnLst>
                                    <p:animMotion origin="layout" path="M -6.25E-7 -2.22222E-6 L -6.25E-7 -0.07222 " pathEditMode="relative" rAng="0" ptsTypes="AA">
                                      <p:cBhvr>
                                        <p:cTn id="48" dur="250" accel="50000" decel="50000" autoRev="1" fill="hold">
                                          <p:stCondLst>
                                            <p:cond delay="0"/>
                                          </p:stCondLst>
                                        </p:cTn>
                                        <p:tgtEl>
                                          <p:spTgt spid="11">
                                            <p:txEl>
                                              <p:pRg st="0" end="0"/>
                                            </p:txEl>
                                          </p:spTgt>
                                        </p:tgtEl>
                                        <p:attrNameLst>
                                          <p:attrName>ppt_x</p:attrName>
                                          <p:attrName>ppt_y</p:attrName>
                                        </p:attrNameLst>
                                      </p:cBhvr>
                                      <p:rCtr x="0" y="-3611"/>
                                    </p:animMotion>
                                    <p:animRot by="1500000">
                                      <p:cBhvr>
                                        <p:cTn id="49" dur="125" fill="hold">
                                          <p:stCondLst>
                                            <p:cond delay="0"/>
                                          </p:stCondLst>
                                        </p:cTn>
                                        <p:tgtEl>
                                          <p:spTgt spid="11">
                                            <p:txEl>
                                              <p:pRg st="0" end="0"/>
                                            </p:txEl>
                                          </p:spTgt>
                                        </p:tgtEl>
                                        <p:attrNameLst>
                                          <p:attrName>r</p:attrName>
                                        </p:attrNameLst>
                                      </p:cBhvr>
                                    </p:animRot>
                                    <p:animRot by="-1500000">
                                      <p:cBhvr>
                                        <p:cTn id="50" dur="125" fill="hold">
                                          <p:stCondLst>
                                            <p:cond delay="125"/>
                                          </p:stCondLst>
                                        </p:cTn>
                                        <p:tgtEl>
                                          <p:spTgt spid="11">
                                            <p:txEl>
                                              <p:pRg st="0" end="0"/>
                                            </p:txEl>
                                          </p:spTgt>
                                        </p:tgtEl>
                                        <p:attrNameLst>
                                          <p:attrName>r</p:attrName>
                                        </p:attrNameLst>
                                      </p:cBhvr>
                                    </p:animRot>
                                    <p:animRot by="-1500000">
                                      <p:cBhvr>
                                        <p:cTn id="51" dur="125" fill="hold">
                                          <p:stCondLst>
                                            <p:cond delay="250"/>
                                          </p:stCondLst>
                                        </p:cTn>
                                        <p:tgtEl>
                                          <p:spTgt spid="11">
                                            <p:txEl>
                                              <p:pRg st="0" end="0"/>
                                            </p:txEl>
                                          </p:spTgt>
                                        </p:tgtEl>
                                        <p:attrNameLst>
                                          <p:attrName>r</p:attrName>
                                        </p:attrNameLst>
                                      </p:cBhvr>
                                    </p:animRot>
                                    <p:animRot by="1500000">
                                      <p:cBhvr>
                                        <p:cTn id="52" dur="125" fill="hold">
                                          <p:stCondLst>
                                            <p:cond delay="375"/>
                                          </p:stCondLst>
                                        </p:cTn>
                                        <p:tgtEl>
                                          <p:spTgt spid="11">
                                            <p:txEl>
                                              <p:pRg st="0" end="0"/>
                                            </p:txEl>
                                          </p:spTgt>
                                        </p:tgtEl>
                                        <p:attrNameLst>
                                          <p:attrName>r</p:attrName>
                                        </p:attrNameLst>
                                      </p:cBhvr>
                                    </p:animRot>
                                  </p:childTnLst>
                                </p:cTn>
                              </p:par>
                              <p:par>
                                <p:cTn id="53" presetID="34" presetClass="emph" presetSubtype="0" fill="hold" nodeType="withEffect">
                                  <p:stCondLst>
                                    <p:cond delay="800"/>
                                  </p:stCondLst>
                                  <p:iterate type="lt">
                                    <p:tmPct val="10000"/>
                                  </p:iterate>
                                  <p:childTnLst>
                                    <p:animMotion origin="layout" path="M 3.95833E-6 -2.22222E-6 L 3.95833E-6 -0.07222 " pathEditMode="relative" rAng="0" ptsTypes="AA">
                                      <p:cBhvr>
                                        <p:cTn id="54" dur="250" accel="50000" decel="50000" autoRev="1" fill="hold">
                                          <p:stCondLst>
                                            <p:cond delay="0"/>
                                          </p:stCondLst>
                                        </p:cTn>
                                        <p:tgtEl>
                                          <p:spTgt spid="12">
                                            <p:txEl>
                                              <p:pRg st="0" end="0"/>
                                            </p:txEl>
                                          </p:spTgt>
                                        </p:tgtEl>
                                        <p:attrNameLst>
                                          <p:attrName>ppt_x</p:attrName>
                                          <p:attrName>ppt_y</p:attrName>
                                        </p:attrNameLst>
                                      </p:cBhvr>
                                      <p:rCtr x="0" y="-3611"/>
                                    </p:animMotion>
                                    <p:animRot by="1500000">
                                      <p:cBhvr>
                                        <p:cTn id="55" dur="125" fill="hold">
                                          <p:stCondLst>
                                            <p:cond delay="0"/>
                                          </p:stCondLst>
                                        </p:cTn>
                                        <p:tgtEl>
                                          <p:spTgt spid="12">
                                            <p:txEl>
                                              <p:pRg st="0" end="0"/>
                                            </p:txEl>
                                          </p:spTgt>
                                        </p:tgtEl>
                                        <p:attrNameLst>
                                          <p:attrName>r</p:attrName>
                                        </p:attrNameLst>
                                      </p:cBhvr>
                                    </p:animRot>
                                    <p:animRot by="-1500000">
                                      <p:cBhvr>
                                        <p:cTn id="56" dur="125" fill="hold">
                                          <p:stCondLst>
                                            <p:cond delay="125"/>
                                          </p:stCondLst>
                                        </p:cTn>
                                        <p:tgtEl>
                                          <p:spTgt spid="12">
                                            <p:txEl>
                                              <p:pRg st="0" end="0"/>
                                            </p:txEl>
                                          </p:spTgt>
                                        </p:tgtEl>
                                        <p:attrNameLst>
                                          <p:attrName>r</p:attrName>
                                        </p:attrNameLst>
                                      </p:cBhvr>
                                    </p:animRot>
                                    <p:animRot by="-1500000">
                                      <p:cBhvr>
                                        <p:cTn id="57" dur="125" fill="hold">
                                          <p:stCondLst>
                                            <p:cond delay="250"/>
                                          </p:stCondLst>
                                        </p:cTn>
                                        <p:tgtEl>
                                          <p:spTgt spid="12">
                                            <p:txEl>
                                              <p:pRg st="0" end="0"/>
                                            </p:txEl>
                                          </p:spTgt>
                                        </p:tgtEl>
                                        <p:attrNameLst>
                                          <p:attrName>r</p:attrName>
                                        </p:attrNameLst>
                                      </p:cBhvr>
                                    </p:animRot>
                                    <p:animRot by="1500000">
                                      <p:cBhvr>
                                        <p:cTn id="58" dur="125" fill="hold">
                                          <p:stCondLst>
                                            <p:cond delay="375"/>
                                          </p:stCondLst>
                                        </p:cTn>
                                        <p:tgtEl>
                                          <p:spTgt spid="12">
                                            <p:txEl>
                                              <p:pRg st="0" end="0"/>
                                            </p:txEl>
                                          </p:spTgt>
                                        </p:tgtEl>
                                        <p:attrNameLst>
                                          <p:attrName>r</p:attrName>
                                        </p:attrNameLst>
                                      </p:cBhvr>
                                    </p:animRot>
                                  </p:childTnLst>
                                </p:cTn>
                              </p:par>
                              <p:par>
                                <p:cTn id="59" presetID="34" presetClass="emph" presetSubtype="0" fill="hold" nodeType="withEffect">
                                  <p:stCondLst>
                                    <p:cond delay="900"/>
                                  </p:stCondLst>
                                  <p:iterate type="lt">
                                    <p:tmPct val="10000"/>
                                  </p:iterate>
                                  <p:childTnLst>
                                    <p:animMotion origin="layout" path="M 0.0 0.0 L 0.0 -0.07213" pathEditMode="relative" ptsTypes="">
                                      <p:cBhvr>
                                        <p:cTn id="60" dur="250" accel="50000" decel="50000" autoRev="1" fill="hold">
                                          <p:stCondLst>
                                            <p:cond delay="0"/>
                                          </p:stCondLst>
                                        </p:cTn>
                                        <p:tgtEl>
                                          <p:spTgt spid="13">
                                            <p:txEl>
                                              <p:pRg st="0" end="0"/>
                                            </p:txEl>
                                          </p:spTgt>
                                        </p:tgtEl>
                                        <p:attrNameLst>
                                          <p:attrName>ppt_x</p:attrName>
                                          <p:attrName>ppt_y</p:attrName>
                                        </p:attrNameLst>
                                      </p:cBhvr>
                                    </p:animMotion>
                                    <p:animRot by="1500000">
                                      <p:cBhvr>
                                        <p:cTn id="61" dur="125" fill="hold">
                                          <p:stCondLst>
                                            <p:cond delay="0"/>
                                          </p:stCondLst>
                                        </p:cTn>
                                        <p:tgtEl>
                                          <p:spTgt spid="13">
                                            <p:txEl>
                                              <p:pRg st="0" end="0"/>
                                            </p:txEl>
                                          </p:spTgt>
                                        </p:tgtEl>
                                        <p:attrNameLst>
                                          <p:attrName>r</p:attrName>
                                        </p:attrNameLst>
                                      </p:cBhvr>
                                    </p:animRot>
                                    <p:animRot by="-1500000">
                                      <p:cBhvr>
                                        <p:cTn id="62" dur="125" fill="hold">
                                          <p:stCondLst>
                                            <p:cond delay="125"/>
                                          </p:stCondLst>
                                        </p:cTn>
                                        <p:tgtEl>
                                          <p:spTgt spid="13">
                                            <p:txEl>
                                              <p:pRg st="0" end="0"/>
                                            </p:txEl>
                                          </p:spTgt>
                                        </p:tgtEl>
                                        <p:attrNameLst>
                                          <p:attrName>r</p:attrName>
                                        </p:attrNameLst>
                                      </p:cBhvr>
                                    </p:animRot>
                                    <p:animRot by="-1500000">
                                      <p:cBhvr>
                                        <p:cTn id="63" dur="125" fill="hold">
                                          <p:stCondLst>
                                            <p:cond delay="250"/>
                                          </p:stCondLst>
                                        </p:cTn>
                                        <p:tgtEl>
                                          <p:spTgt spid="13">
                                            <p:txEl>
                                              <p:pRg st="0" end="0"/>
                                            </p:txEl>
                                          </p:spTgt>
                                        </p:tgtEl>
                                        <p:attrNameLst>
                                          <p:attrName>r</p:attrName>
                                        </p:attrNameLst>
                                      </p:cBhvr>
                                    </p:animRot>
                                    <p:animRot by="1500000">
                                      <p:cBhvr>
                                        <p:cTn id="64" dur="125" fill="hold">
                                          <p:stCondLst>
                                            <p:cond delay="375"/>
                                          </p:stCondLst>
                                        </p:cTn>
                                        <p:tgtEl>
                                          <p:spTgt spid="13">
                                            <p:txEl>
                                              <p:pRg st="0" end="0"/>
                                            </p:txEl>
                                          </p:spTgt>
                                        </p:tgtEl>
                                        <p:attrNameLst>
                                          <p:attrName>r</p:attrName>
                                        </p:attrNameLst>
                                      </p:cBhvr>
                                    </p:animRot>
                                  </p:childTnLst>
                                </p:cTn>
                              </p:par>
                              <p:par>
                                <p:cTn id="65" presetID="34" presetClass="emph" presetSubtype="0" fill="hold" nodeType="withEffect">
                                  <p:stCondLst>
                                    <p:cond delay="1000"/>
                                  </p:stCondLst>
                                  <p:iterate type="lt">
                                    <p:tmPct val="10000"/>
                                  </p:iterate>
                                  <p:childTnLst>
                                    <p:animMotion origin="layout" path="M 3.125E-6 -2.22222E-6 L 3.125E-6 -0.07222 " pathEditMode="relative" rAng="0" ptsTypes="AA">
                                      <p:cBhvr>
                                        <p:cTn id="66" dur="250" accel="50000" decel="50000" autoRev="1" fill="hold">
                                          <p:stCondLst>
                                            <p:cond delay="0"/>
                                          </p:stCondLst>
                                        </p:cTn>
                                        <p:tgtEl>
                                          <p:spTgt spid="14">
                                            <p:txEl>
                                              <p:pRg st="0" end="0"/>
                                            </p:txEl>
                                          </p:spTgt>
                                        </p:tgtEl>
                                        <p:attrNameLst>
                                          <p:attrName>ppt_x</p:attrName>
                                          <p:attrName>ppt_y</p:attrName>
                                        </p:attrNameLst>
                                      </p:cBhvr>
                                      <p:rCtr x="0" y="-3611"/>
                                    </p:animMotion>
                                    <p:animRot by="1500000">
                                      <p:cBhvr>
                                        <p:cTn id="67" dur="125" fill="hold">
                                          <p:stCondLst>
                                            <p:cond delay="0"/>
                                          </p:stCondLst>
                                        </p:cTn>
                                        <p:tgtEl>
                                          <p:spTgt spid="14">
                                            <p:txEl>
                                              <p:pRg st="0" end="0"/>
                                            </p:txEl>
                                          </p:spTgt>
                                        </p:tgtEl>
                                        <p:attrNameLst>
                                          <p:attrName>r</p:attrName>
                                        </p:attrNameLst>
                                      </p:cBhvr>
                                    </p:animRot>
                                    <p:animRot by="-1500000">
                                      <p:cBhvr>
                                        <p:cTn id="68" dur="125" fill="hold">
                                          <p:stCondLst>
                                            <p:cond delay="125"/>
                                          </p:stCondLst>
                                        </p:cTn>
                                        <p:tgtEl>
                                          <p:spTgt spid="14">
                                            <p:txEl>
                                              <p:pRg st="0" end="0"/>
                                            </p:txEl>
                                          </p:spTgt>
                                        </p:tgtEl>
                                        <p:attrNameLst>
                                          <p:attrName>r</p:attrName>
                                        </p:attrNameLst>
                                      </p:cBhvr>
                                    </p:animRot>
                                    <p:animRot by="-1500000">
                                      <p:cBhvr>
                                        <p:cTn id="69" dur="125" fill="hold">
                                          <p:stCondLst>
                                            <p:cond delay="250"/>
                                          </p:stCondLst>
                                        </p:cTn>
                                        <p:tgtEl>
                                          <p:spTgt spid="14">
                                            <p:txEl>
                                              <p:pRg st="0" end="0"/>
                                            </p:txEl>
                                          </p:spTgt>
                                        </p:tgtEl>
                                        <p:attrNameLst>
                                          <p:attrName>r</p:attrName>
                                        </p:attrNameLst>
                                      </p:cBhvr>
                                    </p:animRot>
                                    <p:animRot by="1500000">
                                      <p:cBhvr>
                                        <p:cTn id="70" dur="125" fill="hold">
                                          <p:stCondLst>
                                            <p:cond delay="375"/>
                                          </p:stCondLst>
                                        </p:cTn>
                                        <p:tgtEl>
                                          <p:spTgt spid="14">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allAtOnce"/>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スライス">
  <a:themeElements>
    <a:clrScheme name="スライス">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スライス">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スライス">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561</TotalTime>
  <Words>631</Words>
  <Application>Microsoft Office PowerPoint</Application>
  <PresentationFormat>ワイド画面</PresentationFormat>
  <Paragraphs>86</Paragraphs>
  <Slides>21</Slides>
  <Notes>12</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21</vt:i4>
      </vt:variant>
    </vt:vector>
  </HeadingPairs>
  <TitlesOfParts>
    <vt:vector size="30" baseType="lpstr">
      <vt:lpstr>HGP創英角ﾎﾟｯﾌﾟ体</vt:lpstr>
      <vt:lpstr>HGS創英角ｺﾞｼｯｸUB</vt:lpstr>
      <vt:lpstr>游ゴシック</vt:lpstr>
      <vt:lpstr>游ゴシック Light</vt:lpstr>
      <vt:lpstr>Arial</vt:lpstr>
      <vt:lpstr>Century Gothic</vt:lpstr>
      <vt:lpstr>Wingdings 3</vt:lpstr>
      <vt:lpstr>Office テーマ</vt:lpstr>
      <vt:lpstr>スライス</vt:lpstr>
      <vt:lpstr>進捗状況報告書</vt:lpstr>
      <vt:lpstr>PowerPoint プレゼンテーション</vt:lpstr>
      <vt:lpstr>主な機能</vt:lpstr>
      <vt:lpstr>主な使用技術</vt:lpstr>
      <vt:lpstr>作成済みの機能</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現在(今後)の作業</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rei aki</dc:creator>
  <cp:lastModifiedBy>拓也 髙橋</cp:lastModifiedBy>
  <cp:revision>15</cp:revision>
  <dcterms:created xsi:type="dcterms:W3CDTF">2025-12-02T04:10:51Z</dcterms:created>
  <dcterms:modified xsi:type="dcterms:W3CDTF">2025-12-09T06:32:06Z</dcterms:modified>
</cp:coreProperties>
</file>