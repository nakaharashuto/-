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24"/>
  </p:notesMasterIdLst>
  <p:sldIdLst>
    <p:sldId id="256" r:id="rId2"/>
    <p:sldId id="261" r:id="rId3"/>
    <p:sldId id="258" r:id="rId4"/>
    <p:sldId id="257" r:id="rId5"/>
    <p:sldId id="259" r:id="rId6"/>
    <p:sldId id="264" r:id="rId7"/>
    <p:sldId id="277"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8" r:id="rId21"/>
    <p:sldId id="260" r:id="rId22"/>
    <p:sldId id="263"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8" d="100"/>
          <a:sy n="68" d="100"/>
        </p:scale>
        <p:origin x="966"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5E0C04-0C55-411B-ACF4-DE0B96A62C40}" type="datetimeFigureOut">
              <a:rPr kumimoji="1" lang="ja-JP" altLang="en-US" smtClean="0"/>
              <a:t>2025/12/10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4173B8-CD3F-4B0B-9633-C5F8294766B3}" type="slidenum">
              <a:rPr kumimoji="1" lang="ja-JP" altLang="en-US" smtClean="0"/>
              <a:t>‹#›</a:t>
            </a:fld>
            <a:endParaRPr kumimoji="1" lang="ja-JP" altLang="en-US"/>
          </a:p>
        </p:txBody>
      </p:sp>
    </p:spTree>
    <p:extLst>
      <p:ext uri="{BB962C8B-B14F-4D97-AF65-F5344CB8AC3E}">
        <p14:creationId xmlns:p14="http://schemas.microsoft.com/office/powerpoint/2010/main" val="41061383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これから進捗発表を始めます。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a:t>
            </a:fld>
            <a:endParaRPr kumimoji="1" lang="ja-JP" altLang="en-US"/>
          </a:p>
        </p:txBody>
      </p:sp>
    </p:spTree>
    <p:extLst>
      <p:ext uri="{BB962C8B-B14F-4D97-AF65-F5344CB8AC3E}">
        <p14:creationId xmlns:p14="http://schemas.microsoft.com/office/powerpoint/2010/main" val="340843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私たちが作成しているものは、</a:t>
            </a:r>
            <a:endParaRPr kumimoji="1" lang="en-US" altLang="ja-JP" dirty="0"/>
          </a:p>
          <a:p>
            <a:r>
              <a:rPr kumimoji="1" lang="en-US" altLang="ja-JP" dirty="0"/>
              <a:t>android</a:t>
            </a:r>
            <a:r>
              <a:rPr kumimoji="1" lang="ja-JP" altLang="en-US" dirty="0"/>
              <a:t>と</a:t>
            </a:r>
            <a:r>
              <a:rPr kumimoji="1" lang="en-US" altLang="ja-JP" dirty="0" err="1"/>
              <a:t>ios</a:t>
            </a:r>
            <a:r>
              <a:rPr kumimoji="1" lang="ja-JP" altLang="en-US" dirty="0"/>
              <a:t>の両方で使用できる</a:t>
            </a:r>
            <a:endParaRPr kumimoji="1" lang="en-US" altLang="ja-JP" dirty="0"/>
          </a:p>
          <a:p>
            <a:r>
              <a:rPr kumimoji="1" lang="ja-JP" altLang="en-US" dirty="0"/>
              <a:t>パスワード管理アプリです。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a:t>
            </a:fld>
            <a:endParaRPr kumimoji="1" lang="ja-JP" altLang="en-US"/>
          </a:p>
        </p:txBody>
      </p:sp>
    </p:spTree>
    <p:extLst>
      <p:ext uri="{BB962C8B-B14F-4D97-AF65-F5344CB8AC3E}">
        <p14:creationId xmlns:p14="http://schemas.microsoft.com/office/powerpoint/2010/main" val="3090015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このアプリの主な機能は、</a:t>
            </a:r>
            <a:endParaRPr kumimoji="1" lang="en-US" altLang="ja-JP" dirty="0"/>
          </a:p>
          <a:p>
            <a:r>
              <a:rPr kumimoji="1" lang="ja-JP" altLang="en-US" dirty="0"/>
              <a:t>ランダムで強力なパスワードを自動生成する機能と</a:t>
            </a:r>
            <a:endParaRPr kumimoji="1" lang="en-US" altLang="ja-JP" dirty="0"/>
          </a:p>
          <a:p>
            <a:r>
              <a:rPr kumimoji="1" lang="ja-JP" altLang="en-US" dirty="0"/>
              <a:t>サイト名、ユーザー名、パスワード、</a:t>
            </a:r>
            <a:r>
              <a:rPr kumimoji="1" lang="en-US" altLang="ja-JP" dirty="0"/>
              <a:t>URL</a:t>
            </a:r>
            <a:r>
              <a:rPr kumimoji="1" lang="ja-JP" altLang="en-US" dirty="0"/>
              <a:t>をローカルデータベースに安全に保存する機能です。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3</a:t>
            </a:fld>
            <a:endParaRPr kumimoji="1" lang="ja-JP" altLang="en-US"/>
          </a:p>
        </p:txBody>
      </p:sp>
    </p:spTree>
    <p:extLst>
      <p:ext uri="{BB962C8B-B14F-4D97-AF65-F5344CB8AC3E}">
        <p14:creationId xmlns:p14="http://schemas.microsoft.com/office/powerpoint/2010/main" val="2759224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主な使用技術として、</a:t>
            </a:r>
            <a:endParaRPr kumimoji="1" lang="en-US" altLang="ja-JP" dirty="0"/>
          </a:p>
          <a:p>
            <a:r>
              <a:rPr kumimoji="1" lang="en-US" altLang="ja-JP" dirty="0" err="1"/>
              <a:t>Androido</a:t>
            </a:r>
            <a:r>
              <a:rPr kumimoji="1" lang="ja-JP" altLang="en-US" dirty="0"/>
              <a:t>と</a:t>
            </a:r>
            <a:r>
              <a:rPr kumimoji="1" lang="en-US" altLang="ja-JP" dirty="0" err="1"/>
              <a:t>ios</a:t>
            </a:r>
            <a:r>
              <a:rPr kumimoji="1" lang="ja-JP" altLang="en-US" dirty="0"/>
              <a:t>の両方に対応している</a:t>
            </a:r>
            <a:r>
              <a:rPr kumimoji="1" lang="en-US" altLang="ja-JP" dirty="0"/>
              <a:t>Flutter(</a:t>
            </a:r>
            <a:r>
              <a:rPr kumimoji="1" lang="ja-JP" altLang="en-US" dirty="0"/>
              <a:t>フラッター</a:t>
            </a:r>
            <a:r>
              <a:rPr kumimoji="1" lang="en-US" altLang="ja-JP" dirty="0"/>
              <a:t>)</a:t>
            </a:r>
          </a:p>
          <a:p>
            <a:r>
              <a:rPr kumimoji="1" lang="ja-JP" altLang="en-US" dirty="0"/>
              <a:t>その</a:t>
            </a:r>
            <a:r>
              <a:rPr kumimoji="1" lang="en-US" altLang="ja-JP" dirty="0"/>
              <a:t>Flutter(</a:t>
            </a:r>
            <a:r>
              <a:rPr kumimoji="1" lang="ja-JP" altLang="en-US" dirty="0"/>
              <a:t>フラッター</a:t>
            </a:r>
            <a:r>
              <a:rPr kumimoji="1" lang="en-US" altLang="ja-JP" dirty="0"/>
              <a:t>)</a:t>
            </a:r>
            <a:r>
              <a:rPr kumimoji="1" lang="ja-JP" altLang="en-US" dirty="0"/>
              <a:t>と相性のいい開発言語である</a:t>
            </a:r>
            <a:r>
              <a:rPr kumimoji="1" lang="en-US" altLang="ja-JP" dirty="0"/>
              <a:t>Dart(</a:t>
            </a:r>
            <a:r>
              <a:rPr kumimoji="1" lang="ja-JP" altLang="en-US" dirty="0"/>
              <a:t>ダート</a:t>
            </a:r>
            <a:r>
              <a:rPr kumimoji="1" lang="en-US" altLang="ja-JP" dirty="0"/>
              <a:t>)</a:t>
            </a:r>
          </a:p>
          <a:p>
            <a:r>
              <a:rPr kumimoji="1" lang="ja-JP" altLang="en-US" dirty="0"/>
              <a:t>データの保存や管理をするためのローカルデータベースの</a:t>
            </a:r>
            <a:r>
              <a:rPr kumimoji="1" lang="en-US" altLang="ja-JP" dirty="0"/>
              <a:t>Isar(</a:t>
            </a:r>
            <a:r>
              <a:rPr kumimoji="1" lang="ja-JP" altLang="en-US" dirty="0"/>
              <a:t>アイザー</a:t>
            </a:r>
            <a:r>
              <a:rPr kumimoji="1" lang="en-US" altLang="ja-JP" dirty="0"/>
              <a:t>)</a:t>
            </a:r>
          </a:p>
          <a:p>
            <a:r>
              <a:rPr kumimoji="1" lang="ja-JP" altLang="en-US" dirty="0"/>
              <a:t>機密情報の保管に</a:t>
            </a:r>
            <a:r>
              <a:rPr kumimoji="1" lang="en-US" altLang="ja-JP" dirty="0" err="1"/>
              <a:t>flutter_secure_storage</a:t>
            </a:r>
            <a:r>
              <a:rPr kumimoji="1" lang="en-US" altLang="ja-JP" dirty="0"/>
              <a:t>(</a:t>
            </a:r>
            <a:r>
              <a:rPr kumimoji="1" lang="ja-JP" altLang="en-US" dirty="0"/>
              <a:t>フラッターセキュアストレージ</a:t>
            </a:r>
            <a:r>
              <a:rPr kumimoji="1" lang="en-US" altLang="ja-JP" dirty="0"/>
              <a:t>)</a:t>
            </a:r>
          </a:p>
          <a:p>
            <a:r>
              <a:rPr kumimoji="1" lang="en-US" altLang="ja-JP" dirty="0"/>
              <a:t>encrypt(</a:t>
            </a:r>
            <a:r>
              <a:rPr kumimoji="1" lang="ja-JP" altLang="en-US" dirty="0"/>
              <a:t>エンクリプト</a:t>
            </a:r>
            <a:r>
              <a:rPr kumimoji="1" lang="en-US" altLang="ja-JP" dirty="0"/>
              <a:t>)</a:t>
            </a:r>
            <a:r>
              <a:rPr kumimoji="1" lang="ja-JP" altLang="en-US" dirty="0"/>
              <a:t>パッケージを使った暗号化を行うために</a:t>
            </a:r>
            <a:r>
              <a:rPr kumimoji="1" lang="en-US" altLang="ja-JP" dirty="0"/>
              <a:t>AES-256 GCM(</a:t>
            </a:r>
            <a:r>
              <a:rPr kumimoji="1" lang="ja-JP" altLang="en-US" dirty="0"/>
              <a:t>エーイーエス</a:t>
            </a:r>
            <a:r>
              <a:rPr kumimoji="1" lang="en-US" altLang="ja-JP" dirty="0"/>
              <a:t>256</a:t>
            </a:r>
            <a:r>
              <a:rPr kumimoji="1" lang="ja-JP" altLang="en-US" dirty="0"/>
              <a:t>ジーシーエム</a:t>
            </a:r>
            <a:r>
              <a:rPr kumimoji="1" lang="en-US" altLang="ja-JP" dirty="0"/>
              <a:t>)</a:t>
            </a:r>
          </a:p>
          <a:p>
            <a:r>
              <a:rPr kumimoji="1" lang="ja-JP" altLang="en-US" dirty="0"/>
              <a:t>を使用しています。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4</a:t>
            </a:fld>
            <a:endParaRPr kumimoji="1" lang="ja-JP" altLang="en-US"/>
          </a:p>
        </p:txBody>
      </p:sp>
    </p:spTree>
    <p:extLst>
      <p:ext uri="{BB962C8B-B14F-4D97-AF65-F5344CB8AC3E}">
        <p14:creationId xmlns:p14="http://schemas.microsoft.com/office/powerpoint/2010/main" val="31086148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現在</a:t>
            </a:r>
            <a:r>
              <a:rPr kumimoji="1" lang="en-US" altLang="ja-JP" dirty="0"/>
              <a:t>android</a:t>
            </a:r>
            <a:r>
              <a:rPr kumimoji="1" lang="ja-JP" altLang="en-US" dirty="0"/>
              <a:t>環境のみになりますが作成済みの機能として、</a:t>
            </a:r>
            <a:endParaRPr kumimoji="1" lang="en-US" altLang="ja-JP" dirty="0"/>
          </a:p>
          <a:p>
            <a:r>
              <a:rPr kumimoji="1" lang="ja-JP" altLang="en-US" dirty="0"/>
              <a:t>パスワードの自動生成、</a:t>
            </a:r>
            <a:endParaRPr kumimoji="1" lang="en-US" altLang="ja-JP" dirty="0"/>
          </a:p>
          <a:p>
            <a:r>
              <a:rPr kumimoji="1" lang="ja-JP" altLang="en-US" dirty="0"/>
              <a:t>パスワードの登録、編集、コピー、削除、</a:t>
            </a:r>
            <a:endParaRPr kumimoji="1" lang="en-US" altLang="ja-JP" dirty="0"/>
          </a:p>
          <a:p>
            <a:r>
              <a:rPr kumimoji="1" lang="en-US" altLang="ja-JP" dirty="0"/>
              <a:t>PIN</a:t>
            </a:r>
            <a:r>
              <a:rPr kumimoji="1" lang="ja-JP" altLang="en-US" dirty="0"/>
              <a:t>コードと生体情報による認証、</a:t>
            </a:r>
            <a:endParaRPr kumimoji="1" lang="en-US" altLang="ja-JP" dirty="0"/>
          </a:p>
          <a:p>
            <a:r>
              <a:rPr kumimoji="1" lang="ja-JP" altLang="en-US" dirty="0"/>
              <a:t>保存するデータの暗号化、</a:t>
            </a:r>
            <a:endParaRPr kumimoji="1" lang="en-US" altLang="ja-JP" dirty="0"/>
          </a:p>
          <a:p>
            <a:r>
              <a:rPr kumimoji="1" lang="ja-JP" altLang="en-US" dirty="0"/>
              <a:t>ローカルデータベースによる永続化があります。</a:t>
            </a:r>
            <a:endParaRPr kumimoji="1" lang="en-US" altLang="ja-JP" dirty="0"/>
          </a:p>
          <a:p>
            <a:r>
              <a:rPr kumimoji="1" lang="ja-JP" altLang="en-US" dirty="0"/>
              <a:t>次にアプリのスクリーンショットをお見せします。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5</a:t>
            </a:fld>
            <a:endParaRPr kumimoji="1" lang="ja-JP" altLang="en-US"/>
          </a:p>
        </p:txBody>
      </p:sp>
    </p:spTree>
    <p:extLst>
      <p:ext uri="{BB962C8B-B14F-4D97-AF65-F5344CB8AC3E}">
        <p14:creationId xmlns:p14="http://schemas.microsoft.com/office/powerpoint/2010/main" val="3354273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こちらがアプリ初回起動時の</a:t>
            </a:r>
            <a:r>
              <a:rPr kumimoji="1" lang="en-US" altLang="ja-JP" dirty="0"/>
              <a:t>PIN</a:t>
            </a:r>
            <a:r>
              <a:rPr kumimoji="1" lang="ja-JP" altLang="en-US" dirty="0"/>
              <a:t>コードの登録画面です。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初回起動時に</a:t>
            </a:r>
            <a:r>
              <a:rPr kumimoji="1" lang="en-US" altLang="ja-JP" dirty="0"/>
              <a:t>PIN</a:t>
            </a:r>
            <a:r>
              <a:rPr kumimoji="1" lang="ja-JP" altLang="en-US" dirty="0"/>
              <a:t>を登録し二回目以降はロック解除画面で</a:t>
            </a:r>
            <a:r>
              <a:rPr kumimoji="1" lang="en-US" altLang="ja-JP" dirty="0"/>
              <a:t>PIN</a:t>
            </a:r>
            <a:r>
              <a:rPr kumimoji="1" lang="ja-JP" altLang="en-US" dirty="0"/>
              <a:t>の入力、もしくは生体認証を行うことでアプリのロックを解除することができます。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6</a:t>
            </a:fld>
            <a:endParaRPr kumimoji="1" lang="ja-JP" altLang="en-US"/>
          </a:p>
        </p:txBody>
      </p:sp>
    </p:spTree>
    <p:extLst>
      <p:ext uri="{BB962C8B-B14F-4D97-AF65-F5344CB8AC3E}">
        <p14:creationId xmlns:p14="http://schemas.microsoft.com/office/powerpoint/2010/main" val="4300154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4ECEE-BC85-2921-F52D-37B9ECC037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E7AA07-F919-C329-6624-3E0BED319B8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0E60D-20B6-A044-9ABE-4DA3D4C15EF2}"/>
              </a:ext>
            </a:extLst>
          </p:cNvPr>
          <p:cNvSpPr>
            <a:spLocks noGrp="1"/>
          </p:cNvSpPr>
          <p:nvPr>
            <p:ph type="body" idx="1"/>
          </p:nvPr>
        </p:nvSpPr>
        <p:spPr/>
        <p:txBody>
          <a:bodyPr/>
          <a:lstStyle/>
          <a:p>
            <a:r>
              <a:rPr kumimoji="1" lang="ja-JP" altLang="en-US" dirty="0"/>
              <a:t>こちらが二回目以降の</a:t>
            </a:r>
            <a:r>
              <a:rPr kumimoji="1" lang="en-US" altLang="ja-JP" dirty="0"/>
              <a:t>PIN</a:t>
            </a:r>
            <a:r>
              <a:rPr kumimoji="1" lang="ja-JP" altLang="en-US" dirty="0"/>
              <a:t>が登録された状態になります。</a:t>
            </a:r>
            <a:endParaRPr kumimoji="1" lang="en-US" altLang="ja-JP" dirty="0"/>
          </a:p>
        </p:txBody>
      </p:sp>
      <p:sp>
        <p:nvSpPr>
          <p:cNvPr id="4" name="スライド番号プレースホルダー 3">
            <a:extLst>
              <a:ext uri="{FF2B5EF4-FFF2-40B4-BE49-F238E27FC236}">
                <a16:creationId xmlns:a16="http://schemas.microsoft.com/office/drawing/2014/main" id="{D5CEA0E3-163C-C5F2-B282-99D3ED8D4D4F}"/>
              </a:ext>
            </a:extLst>
          </p:cNvPr>
          <p:cNvSpPr>
            <a:spLocks noGrp="1"/>
          </p:cNvSpPr>
          <p:nvPr>
            <p:ph type="sldNum" sz="quarter" idx="5"/>
          </p:nvPr>
        </p:nvSpPr>
        <p:spPr/>
        <p:txBody>
          <a:bodyPr/>
          <a:lstStyle/>
          <a:p>
            <a:fld id="{3D4173B8-CD3F-4B0B-9633-C5F8294766B3}" type="slidenum">
              <a:rPr kumimoji="1" lang="ja-JP" altLang="en-US" smtClean="0"/>
              <a:t>7</a:t>
            </a:fld>
            <a:endParaRPr kumimoji="1" lang="ja-JP" altLang="en-US"/>
          </a:p>
        </p:txBody>
      </p:sp>
    </p:spTree>
    <p:extLst>
      <p:ext uri="{BB962C8B-B14F-4D97-AF65-F5344CB8AC3E}">
        <p14:creationId xmlns:p14="http://schemas.microsoft.com/office/powerpoint/2010/main" val="3671077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ロックを解除するとメインの画面に移動します。</a:t>
            </a:r>
            <a:endParaRPr kumimoji="1" lang="en-US" altLang="ja-JP" dirty="0"/>
          </a:p>
          <a:p>
            <a:r>
              <a:rPr kumimoji="1" lang="ja-JP" altLang="en-US" dirty="0"/>
              <a:t>この画面ではパスワード管理とパスワード生成のタブがあり、パスワード管理タブでは登録したパスワードが一覧で表示されます。</a:t>
            </a:r>
            <a:endParaRPr kumimoji="1" lang="en-US" altLang="ja-JP" dirty="0"/>
          </a:p>
          <a:p>
            <a:r>
              <a:rPr kumimoji="1" lang="ja-JP" altLang="en-US" dirty="0"/>
              <a:t>右上にある歯車のボタンを押すと</a:t>
            </a:r>
            <a:r>
              <a:rPr kumimoji="1" lang="en-US" altLang="ja-JP" dirty="0"/>
              <a:t>PIN</a:t>
            </a:r>
            <a:r>
              <a:rPr kumimoji="1" lang="ja-JP" altLang="en-US" dirty="0"/>
              <a:t>の再設定を行える設定画面に移動し、</a:t>
            </a:r>
            <a:endParaRPr kumimoji="1" lang="en-US" altLang="ja-JP" dirty="0"/>
          </a:p>
          <a:p>
            <a:r>
              <a:rPr kumimoji="1" lang="ja-JP" altLang="en-US" dirty="0"/>
              <a:t>その隣の南京錠のボタンを押すとロック画面に戻ることができます。</a:t>
            </a:r>
            <a:endParaRPr kumimoji="1" lang="en-US" altLang="ja-JP" dirty="0"/>
          </a:p>
          <a:p>
            <a:r>
              <a:rPr kumimoji="1" lang="ja-JP" altLang="en-US" dirty="0"/>
              <a:t>この画面の右下にある「</a:t>
            </a:r>
            <a:r>
              <a:rPr kumimoji="1" lang="en-US" altLang="ja-JP" dirty="0"/>
              <a:t>+(</a:t>
            </a:r>
            <a:r>
              <a:rPr kumimoji="1" lang="ja-JP" altLang="en-US" dirty="0"/>
              <a:t>プラス</a:t>
            </a:r>
            <a:r>
              <a:rPr kumimoji="1" lang="en-US" altLang="ja-JP" dirty="0"/>
              <a:t>)</a:t>
            </a:r>
            <a:r>
              <a:rPr kumimoji="1" lang="ja-JP" altLang="en-US" dirty="0"/>
              <a:t>」のボタンを押すと、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8</a:t>
            </a:fld>
            <a:endParaRPr kumimoji="1" lang="ja-JP" altLang="en-US"/>
          </a:p>
        </p:txBody>
      </p:sp>
    </p:spTree>
    <p:extLst>
      <p:ext uri="{BB962C8B-B14F-4D97-AF65-F5344CB8AC3E}">
        <p14:creationId xmlns:p14="http://schemas.microsoft.com/office/powerpoint/2010/main" val="36702421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パスワードの新規登録画面に移動します。</a:t>
            </a:r>
            <a:endParaRPr kumimoji="1" lang="en-US" altLang="ja-JP" dirty="0"/>
          </a:p>
          <a:p>
            <a:r>
              <a:rPr kumimoji="1" lang="ja-JP" altLang="en-US" dirty="0"/>
              <a:t>ここではサービス名やユーザー名、パスワード、</a:t>
            </a:r>
            <a:r>
              <a:rPr kumimoji="1" lang="en-US" altLang="ja-JP" dirty="0"/>
              <a:t>URL</a:t>
            </a:r>
            <a:r>
              <a:rPr kumimoji="1" lang="ja-JP" altLang="en-US" dirty="0"/>
              <a:t>を入力できる欄が表示されています。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9</a:t>
            </a:fld>
            <a:endParaRPr kumimoji="1" lang="ja-JP" altLang="en-US"/>
          </a:p>
        </p:txBody>
      </p:sp>
    </p:spTree>
    <p:extLst>
      <p:ext uri="{BB962C8B-B14F-4D97-AF65-F5344CB8AC3E}">
        <p14:creationId xmlns:p14="http://schemas.microsoft.com/office/powerpoint/2010/main" val="1437798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この欄に入力して下の「保存」と書かれたボタンを押すと、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10</a:t>
            </a:fld>
            <a:endParaRPr kumimoji="1" lang="ja-JP" altLang="en-US"/>
          </a:p>
        </p:txBody>
      </p:sp>
    </p:spTree>
    <p:extLst>
      <p:ext uri="{BB962C8B-B14F-4D97-AF65-F5344CB8AC3E}">
        <p14:creationId xmlns:p14="http://schemas.microsoft.com/office/powerpoint/2010/main" val="27639899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メインの画面に戻り一覧に先ほど追加したパスワードが表示されます。</a:t>
            </a:r>
            <a:endParaRPr kumimoji="1" lang="en-US" altLang="ja-JP" dirty="0"/>
          </a:p>
          <a:p>
            <a:r>
              <a:rPr kumimoji="1" lang="ja-JP" altLang="en-US" dirty="0"/>
              <a:t>パスワードの右側に表示されている三つのボタンがそれぞれ左から、コピー、編集、削除になっています。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11</a:t>
            </a:fld>
            <a:endParaRPr kumimoji="1" lang="ja-JP" altLang="en-US"/>
          </a:p>
        </p:txBody>
      </p:sp>
    </p:spTree>
    <p:extLst>
      <p:ext uri="{BB962C8B-B14F-4D97-AF65-F5344CB8AC3E}">
        <p14:creationId xmlns:p14="http://schemas.microsoft.com/office/powerpoint/2010/main" val="1037664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こちらが編集の画面になります。</a:t>
            </a:r>
            <a:endParaRPr kumimoji="1" lang="en-US" altLang="ja-JP" dirty="0"/>
          </a:p>
          <a:p>
            <a:r>
              <a:rPr kumimoji="1" lang="ja-JP" altLang="en-US" dirty="0"/>
              <a:t>ここではすでに登録されているパスワードの情報を編集することができます。</a:t>
            </a:r>
            <a:endParaRPr kumimoji="1" lang="en-US" altLang="ja-JP" dirty="0"/>
          </a:p>
          <a:p>
            <a:r>
              <a:rPr kumimoji="1" lang="ja-JP" altLang="en-US" dirty="0"/>
              <a:t>情報を編集し下の「更新」のボタンを押すことで内容を変更できます。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12</a:t>
            </a:fld>
            <a:endParaRPr kumimoji="1" lang="ja-JP" altLang="en-US"/>
          </a:p>
        </p:txBody>
      </p:sp>
    </p:spTree>
    <p:extLst>
      <p:ext uri="{BB962C8B-B14F-4D97-AF65-F5344CB8AC3E}">
        <p14:creationId xmlns:p14="http://schemas.microsoft.com/office/powerpoint/2010/main" val="507689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パスワード生成タブに移動するとパスワード生成の画面が表示されます。</a:t>
            </a:r>
            <a:endParaRPr kumimoji="1" lang="en-US" altLang="ja-JP" dirty="0"/>
          </a:p>
          <a:p>
            <a:r>
              <a:rPr kumimoji="1" lang="ja-JP" altLang="en-US" dirty="0"/>
              <a:t>ここではパスワードの長さを</a:t>
            </a:r>
            <a:r>
              <a:rPr kumimoji="1" lang="en-US" altLang="ja-JP" dirty="0"/>
              <a:t>8~32</a:t>
            </a:r>
            <a:r>
              <a:rPr kumimoji="1" lang="ja-JP" altLang="en-US" dirty="0"/>
              <a:t>文字、</a:t>
            </a:r>
            <a:endParaRPr kumimoji="1" lang="en-US" altLang="ja-JP" dirty="0"/>
          </a:p>
          <a:p>
            <a:r>
              <a:rPr kumimoji="1" lang="ja-JP" altLang="en-US" dirty="0"/>
              <a:t>種類をアルファベットの小文字をデフォルトに、大文字、数字、記号を使うかを選ぶことができます。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13</a:t>
            </a:fld>
            <a:endParaRPr kumimoji="1" lang="ja-JP" altLang="en-US"/>
          </a:p>
        </p:txBody>
      </p:sp>
    </p:spTree>
    <p:extLst>
      <p:ext uri="{BB962C8B-B14F-4D97-AF65-F5344CB8AC3E}">
        <p14:creationId xmlns:p14="http://schemas.microsoft.com/office/powerpoint/2010/main" val="10991712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パスワードの生成設定を選択し、画面の下にある強力なパスワードを生成と書いてあるボタンを押すことで</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14</a:t>
            </a:fld>
            <a:endParaRPr kumimoji="1" lang="ja-JP" altLang="en-US"/>
          </a:p>
        </p:txBody>
      </p:sp>
    </p:spTree>
    <p:extLst>
      <p:ext uri="{BB962C8B-B14F-4D97-AF65-F5344CB8AC3E}">
        <p14:creationId xmlns:p14="http://schemas.microsoft.com/office/powerpoint/2010/main" val="32170160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パスワードを自動で生成することができます。</a:t>
            </a:r>
            <a:endParaRPr kumimoji="1" lang="en-US" altLang="ja-JP" dirty="0"/>
          </a:p>
          <a:p>
            <a:r>
              <a:rPr kumimoji="1" lang="ja-JP" altLang="en-US" dirty="0"/>
              <a:t>このパスワードをコピーし先ほどの生成画面に貼り付けて登録することもできますが、</a:t>
            </a:r>
            <a:endParaRPr kumimoji="1" lang="en-US" altLang="ja-JP" dirty="0"/>
          </a:p>
          <a:p>
            <a:r>
              <a:rPr kumimoji="1" lang="ja-JP" altLang="en-US" dirty="0"/>
              <a:t>コピーボタンの上にあるパスワードとして保存と書かれたボタンを押すと、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15</a:t>
            </a:fld>
            <a:endParaRPr kumimoji="1" lang="ja-JP" altLang="en-US"/>
          </a:p>
        </p:txBody>
      </p:sp>
    </p:spTree>
    <p:extLst>
      <p:ext uri="{BB962C8B-B14F-4D97-AF65-F5344CB8AC3E}">
        <p14:creationId xmlns:p14="http://schemas.microsoft.com/office/powerpoint/2010/main" val="135345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パスワード新規作成画面に移動して、先ほど生成したパスワードが自動で貼り付けられます。</a:t>
            </a:r>
            <a:endParaRPr kumimoji="1" lang="en-US" altLang="ja-JP" dirty="0"/>
          </a:p>
          <a:p>
            <a:r>
              <a:rPr kumimoji="1" lang="ja-JP" altLang="en-US" dirty="0"/>
              <a:t>そのままほかの欄に入力して保存できます。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16</a:t>
            </a:fld>
            <a:endParaRPr kumimoji="1" lang="ja-JP" altLang="en-US"/>
          </a:p>
        </p:txBody>
      </p:sp>
    </p:spTree>
    <p:extLst>
      <p:ext uri="{BB962C8B-B14F-4D97-AF65-F5344CB8AC3E}">
        <p14:creationId xmlns:p14="http://schemas.microsoft.com/office/powerpoint/2010/main" val="29626433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こちらが削除のボタンを押したときに出てくる確認の表示です。</a:t>
            </a:r>
            <a:endParaRPr kumimoji="1" lang="en-US" altLang="ja-JP" dirty="0"/>
          </a:p>
          <a:p>
            <a:r>
              <a:rPr kumimoji="1" lang="ja-JP" altLang="en-US" dirty="0"/>
              <a:t>ここで削除を押すことでパスワードを削除することができます。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18</a:t>
            </a:fld>
            <a:endParaRPr kumimoji="1" lang="ja-JP" altLang="en-US"/>
          </a:p>
        </p:txBody>
      </p:sp>
    </p:spTree>
    <p:extLst>
      <p:ext uri="{BB962C8B-B14F-4D97-AF65-F5344CB8AC3E}">
        <p14:creationId xmlns:p14="http://schemas.microsoft.com/office/powerpoint/2010/main" val="14823823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こちらは実際に</a:t>
            </a:r>
            <a:r>
              <a:rPr kumimoji="1" lang="en-US" altLang="ja-JP" dirty="0"/>
              <a:t>Isar</a:t>
            </a:r>
            <a:r>
              <a:rPr kumimoji="1" lang="ja-JP" altLang="en-US" dirty="0"/>
              <a:t>に保存されている情報です。</a:t>
            </a:r>
            <a:endParaRPr kumimoji="1" lang="en-US" altLang="ja-JP" dirty="0"/>
          </a:p>
          <a:p>
            <a:r>
              <a:rPr kumimoji="1" lang="ja-JP" altLang="en-US" dirty="0"/>
              <a:t>先ほど入力した情報として、</a:t>
            </a:r>
            <a:r>
              <a:rPr kumimoji="1" lang="en-US" altLang="ja-JP" dirty="0" err="1"/>
              <a:t>serviceName</a:t>
            </a:r>
            <a:r>
              <a:rPr kumimoji="1" lang="en-US" altLang="ja-JP" dirty="0"/>
              <a:t>:</a:t>
            </a:r>
            <a:r>
              <a:rPr kumimoji="1" lang="ja-JP" altLang="en-US" dirty="0"/>
              <a:t>のところにサービス名、</a:t>
            </a:r>
            <a:endParaRPr kumimoji="1" lang="en-US" altLang="ja-JP" dirty="0"/>
          </a:p>
          <a:p>
            <a:r>
              <a:rPr kumimoji="1" lang="en-US" altLang="ja-JP" dirty="0"/>
              <a:t>Username:</a:t>
            </a:r>
            <a:r>
              <a:rPr kumimoji="1" lang="ja-JP" altLang="en-US" dirty="0"/>
              <a:t>にユーザ名、</a:t>
            </a:r>
            <a:endParaRPr kumimoji="1" lang="en-US" altLang="ja-JP" dirty="0"/>
          </a:p>
          <a:p>
            <a:r>
              <a:rPr kumimoji="1" lang="en-US" altLang="ja-JP" dirty="0"/>
              <a:t>url:</a:t>
            </a:r>
            <a:r>
              <a:rPr kumimoji="1" lang="ja-JP" altLang="en-US" dirty="0"/>
              <a:t>に</a:t>
            </a:r>
            <a:r>
              <a:rPr kumimoji="1" lang="en-US" altLang="ja-JP" dirty="0"/>
              <a:t>URL</a:t>
            </a:r>
            <a:r>
              <a:rPr kumimoji="1" lang="ja-JP" altLang="en-US" dirty="0"/>
              <a:t>がそのまま保存され、</a:t>
            </a:r>
            <a:endParaRPr kumimoji="1" lang="en-US" altLang="ja-JP" dirty="0"/>
          </a:p>
          <a:p>
            <a:r>
              <a:rPr kumimoji="1" lang="en-US" altLang="ja-JP" dirty="0" err="1"/>
              <a:t>encryptedPassword</a:t>
            </a:r>
            <a:r>
              <a:rPr kumimoji="1" lang="en-US" altLang="ja-JP" dirty="0">
                <a:sym typeface="Wingdings" panose="05000000000000000000" pitchFamily="2" charset="2"/>
              </a:rPr>
              <a:t>:(</a:t>
            </a:r>
            <a:r>
              <a:rPr kumimoji="1" lang="ja-JP" altLang="en-US" dirty="0">
                <a:sym typeface="Wingdings" panose="05000000000000000000" pitchFamily="2" charset="2"/>
              </a:rPr>
              <a:t>エンクリプティドパスワード</a:t>
            </a:r>
            <a:r>
              <a:rPr kumimoji="1" lang="en-US" altLang="ja-JP" dirty="0">
                <a:sym typeface="Wingdings" panose="05000000000000000000" pitchFamily="2" charset="2"/>
              </a:rPr>
              <a:t>)</a:t>
            </a:r>
            <a:r>
              <a:rPr kumimoji="1" lang="ja-JP" altLang="en-US" dirty="0">
                <a:sym typeface="Wingdings" panose="05000000000000000000" pitchFamily="2" charset="2"/>
              </a:rPr>
              <a:t>の</a:t>
            </a:r>
            <a:r>
              <a:rPr kumimoji="1" lang="ja-JP" altLang="en-US" dirty="0"/>
              <a:t>ところにはパスワードが暗号化された状態で保存されています。</a:t>
            </a:r>
            <a:endParaRPr kumimoji="1" lang="en-US" altLang="ja-JP" dirty="0"/>
          </a:p>
          <a:p>
            <a:r>
              <a:rPr kumimoji="1" lang="ja-JP" altLang="en-US" dirty="0"/>
              <a:t>それ以外に内部でデータを識別するための</a:t>
            </a:r>
            <a:r>
              <a:rPr kumimoji="1" lang="en-US" altLang="ja-JP" dirty="0"/>
              <a:t>ID(</a:t>
            </a:r>
            <a:r>
              <a:rPr kumimoji="1" lang="en-US" altLang="ja-JP" dirty="0" err="1"/>
              <a:t>isarId</a:t>
            </a:r>
            <a:r>
              <a:rPr kumimoji="1" lang="en-US" altLang="ja-JP" dirty="0"/>
              <a:t>:</a:t>
            </a:r>
            <a:r>
              <a:rPr kumimoji="1" lang="ja-JP" altLang="en-US" dirty="0"/>
              <a:t>と</a:t>
            </a:r>
            <a:r>
              <a:rPr kumimoji="1" lang="en-US" altLang="ja-JP" dirty="0"/>
              <a:t>id:)</a:t>
            </a:r>
            <a:r>
              <a:rPr kumimoji="1" lang="ja-JP" altLang="en-US" dirty="0"/>
              <a:t>や、</a:t>
            </a:r>
            <a:endParaRPr kumimoji="1" lang="en-US" altLang="ja-JP" dirty="0"/>
          </a:p>
          <a:p>
            <a:r>
              <a:rPr kumimoji="1" lang="ja-JP" altLang="en-US" dirty="0"/>
              <a:t>パスワードの生成や更新をした日時</a:t>
            </a:r>
            <a:r>
              <a:rPr kumimoji="1" lang="en-US" altLang="ja-JP" dirty="0"/>
              <a:t>(</a:t>
            </a:r>
            <a:r>
              <a:rPr kumimoji="1" lang="en-US" altLang="ja-JP" dirty="0" err="1"/>
              <a:t>createdAt</a:t>
            </a:r>
            <a:r>
              <a:rPr kumimoji="1" lang="en-US" altLang="ja-JP" dirty="0"/>
              <a:t>:</a:t>
            </a:r>
            <a:r>
              <a:rPr kumimoji="1" lang="ja-JP" altLang="en-US" dirty="0"/>
              <a:t>と</a:t>
            </a:r>
            <a:r>
              <a:rPr kumimoji="1" lang="en-US" altLang="ja-JP" dirty="0" err="1"/>
              <a:t>updatedAt</a:t>
            </a:r>
            <a:r>
              <a:rPr kumimoji="1" lang="en-US" altLang="ja-JP" dirty="0"/>
              <a:t>:)</a:t>
            </a:r>
            <a:r>
              <a:rPr kumimoji="1" lang="ja-JP" altLang="en-US" dirty="0"/>
              <a:t>が保存されています。</a:t>
            </a:r>
            <a:endParaRPr kumimoji="1" lang="en-US" altLang="ja-JP" dirty="0"/>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19</a:t>
            </a:fld>
            <a:endParaRPr kumimoji="1" lang="ja-JP" altLang="en-US"/>
          </a:p>
        </p:txBody>
      </p:sp>
    </p:spTree>
    <p:extLst>
      <p:ext uri="{BB962C8B-B14F-4D97-AF65-F5344CB8AC3E}">
        <p14:creationId xmlns:p14="http://schemas.microsoft.com/office/powerpoint/2010/main" val="18870673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次に実際にアプリを動かして見せたいと思います。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20</a:t>
            </a:fld>
            <a:endParaRPr kumimoji="1" lang="ja-JP" altLang="en-US"/>
          </a:p>
        </p:txBody>
      </p:sp>
    </p:spTree>
    <p:extLst>
      <p:ext uri="{BB962C8B-B14F-4D97-AF65-F5344CB8AC3E}">
        <p14:creationId xmlns:p14="http://schemas.microsoft.com/office/powerpoint/2010/main" val="11846625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今後行っていきたい作業として、</a:t>
            </a:r>
            <a:endParaRPr kumimoji="1" lang="en-US" altLang="ja-JP" dirty="0"/>
          </a:p>
          <a:p>
            <a:r>
              <a:rPr kumimoji="1" lang="ja-JP" altLang="en-US" dirty="0"/>
              <a:t>セキュリティを強化するためパスワード閲覧時に</a:t>
            </a:r>
            <a:r>
              <a:rPr kumimoji="1" lang="en-US" altLang="ja-JP" dirty="0"/>
              <a:t>PIN</a:t>
            </a:r>
            <a:r>
              <a:rPr kumimoji="1" lang="ja-JP" altLang="en-US" dirty="0"/>
              <a:t>や生体認証をする機能、</a:t>
            </a:r>
            <a:endParaRPr kumimoji="1" lang="en-US" altLang="ja-JP" dirty="0"/>
          </a:p>
          <a:p>
            <a:r>
              <a:rPr kumimoji="1" lang="en-US" altLang="ja-JP" dirty="0"/>
              <a:t>PIN</a:t>
            </a:r>
            <a:r>
              <a:rPr kumimoji="1" lang="ja-JP" altLang="en-US" dirty="0"/>
              <a:t>認証時に</a:t>
            </a:r>
            <a:r>
              <a:rPr kumimoji="1" lang="en-US" altLang="ja-JP" dirty="0"/>
              <a:t>PIN</a:t>
            </a:r>
            <a:r>
              <a:rPr kumimoji="1" lang="ja-JP" altLang="en-US" dirty="0"/>
              <a:t>を間違えたときの入力回数制限、</a:t>
            </a:r>
            <a:endParaRPr kumimoji="1" lang="en-US" altLang="ja-JP" dirty="0"/>
          </a:p>
          <a:p>
            <a:r>
              <a:rPr kumimoji="1" lang="ja-JP" altLang="en-US" dirty="0"/>
              <a:t>秘密の質問などのパスワードを忘れた際の対処法の追加と、</a:t>
            </a:r>
            <a:endParaRPr kumimoji="1" lang="en-US" altLang="ja-JP" dirty="0"/>
          </a:p>
          <a:p>
            <a:r>
              <a:rPr kumimoji="1" lang="en-US" altLang="ja-JP" dirty="0" err="1"/>
              <a:t>ios</a:t>
            </a:r>
            <a:r>
              <a:rPr kumimoji="1" lang="ja-JP" altLang="en-US" dirty="0"/>
              <a:t>環境での実装を行いたいと思います。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21</a:t>
            </a:fld>
            <a:endParaRPr kumimoji="1" lang="ja-JP" altLang="en-US"/>
          </a:p>
        </p:txBody>
      </p:sp>
    </p:spTree>
    <p:extLst>
      <p:ext uri="{BB962C8B-B14F-4D97-AF65-F5344CB8AC3E}">
        <p14:creationId xmlns:p14="http://schemas.microsoft.com/office/powerpoint/2010/main" val="17753025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以上で進捗発表を終わります。</a:t>
            </a:r>
            <a:endParaRPr kumimoji="1" lang="en-US" altLang="ja-JP" dirty="0"/>
          </a:p>
          <a:p>
            <a:r>
              <a:rPr kumimoji="1" lang="ja-JP" altLang="en-US" dirty="0"/>
              <a:t>ご清聴ありがとうございました。</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22</a:t>
            </a:fld>
            <a:endParaRPr kumimoji="1" lang="ja-JP" altLang="en-US"/>
          </a:p>
        </p:txBody>
      </p:sp>
    </p:spTree>
    <p:extLst>
      <p:ext uri="{BB962C8B-B14F-4D97-AF65-F5344CB8AC3E}">
        <p14:creationId xmlns:p14="http://schemas.microsoft.com/office/powerpoint/2010/main" val="22817300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06377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637765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7018792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789481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166111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6289143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595856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ja-JP" altLang="en-US"/>
              <a:t>マスター タイトルの書式設定</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7151997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ja-JP" altLang="en-US"/>
              <a:t>マスター タイトルの書式設定</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5053669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パノラマ写真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Date Placeholder 2"/>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799085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9186849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ja-JP" altLang="en-US"/>
              <a:t>マスター タイトルの書式設定</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28935639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5666306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ja-JP" altLang="en-US"/>
              <a:t>マスター タイトルの書式設定</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ja-JP" altLang="en-US"/>
              <a:t>マスター テキストの書式設定</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599733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ja-JP" altLang="en-US"/>
              <a:t>マスター タイトルの書式設定</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ja-JP" altLang="en-US"/>
              <a:t>マスター テキストの書式設定</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056526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1005947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480712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kumimoji="1" lang="ja-JP" altLang="en-US"/>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312758003"/>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l" defTabSz="457200" rtl="0" eaLnBrk="1" latinLnBrk="0" hangingPunct="1">
        <a:spcBef>
          <a:spcPct val="0"/>
        </a:spcBef>
        <a:buNone/>
        <a:defRPr kumimoji="1" sz="3600" kern="1200" cap="all">
          <a:ln w="3175" cmpd="sng">
            <a:noFill/>
          </a:ln>
          <a:solidFill>
            <a:schemeClr val="tx1"/>
          </a:solidFill>
          <a:effectLst/>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8.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BE6DA1-54DF-6B63-FEF7-85975D11DF8F}"/>
              </a:ext>
            </a:extLst>
          </p:cNvPr>
          <p:cNvSpPr>
            <a:spLocks noGrp="1"/>
          </p:cNvSpPr>
          <p:nvPr>
            <p:ph type="ctrTitle"/>
          </p:nvPr>
        </p:nvSpPr>
        <p:spPr>
          <a:xfrm>
            <a:off x="3104271" y="2876806"/>
            <a:ext cx="5983458" cy="1104388"/>
          </a:xfrm>
        </p:spPr>
        <p:txBody>
          <a:bodyPr>
            <a:normAutofit fontScale="90000"/>
          </a:bodyPr>
          <a:lstStyle/>
          <a:p>
            <a:r>
              <a:rPr kumimoji="1" lang="ja-JP" altLang="en-US" sz="7200" dirty="0">
                <a:latin typeface="HGS創英角ｺﾞｼｯｸUB" panose="020B0900000000000000" pitchFamily="50" charset="-128"/>
                <a:ea typeface="HGS創英角ｺﾞｼｯｸUB" panose="020B0900000000000000" pitchFamily="50" charset="-128"/>
              </a:rPr>
              <a:t>進捗状況報告書</a:t>
            </a:r>
          </a:p>
        </p:txBody>
      </p:sp>
    </p:spTree>
    <p:extLst>
      <p:ext uri="{BB962C8B-B14F-4D97-AF65-F5344CB8AC3E}">
        <p14:creationId xmlns:p14="http://schemas.microsoft.com/office/powerpoint/2010/main" val="2235172340"/>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B2AD7-B2E3-AC14-AC4B-2D06A5C89C92}"/>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8BBFB8D-39F8-1638-BD56-B5C2C2F47E81}"/>
              </a:ext>
            </a:extLst>
          </p:cNvPr>
          <p:cNvSpPr>
            <a:spLocks noGrp="1"/>
          </p:cNvSpPr>
          <p:nvPr>
            <p:ph idx="1"/>
          </p:nvPr>
        </p:nvSpPr>
        <p:spPr>
          <a:xfrm>
            <a:off x="1456006" y="2415905"/>
            <a:ext cx="9279988" cy="2026190"/>
          </a:xfrm>
        </p:spPr>
        <p:txBody>
          <a:bodyPr>
            <a:noAutofit/>
          </a:bodyPr>
          <a:lstStyle/>
          <a:p>
            <a:pPr marL="0" indent="0" algn="ctr">
              <a:buNone/>
            </a:pPr>
            <a:r>
              <a:rPr lang="en-US" altLang="ja-JP"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Android</a:t>
            </a:r>
            <a:r>
              <a:rPr lang="ja-JP" altLang="en-US"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と</a:t>
            </a:r>
            <a:r>
              <a:rPr lang="en-US" altLang="ja-JP" sz="4800" b="1" dirty="0" err="1">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ios</a:t>
            </a:r>
            <a:r>
              <a:rPr lang="ja-JP" altLang="en-US"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の両方で使用できる</a:t>
            </a:r>
            <a:endParaRPr lang="en-US" altLang="ja-JP"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endParaRPr>
          </a:p>
          <a:p>
            <a:pPr marL="0" indent="0" algn="ctr">
              <a:buNone/>
            </a:pPr>
            <a:r>
              <a:rPr lang="ja-JP" altLang="en-US" sz="80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パスワード管理アプリ</a:t>
            </a:r>
            <a:endParaRPr lang="en-US" altLang="ja-JP" sz="80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31745533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50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78663C-3BAA-26AA-D358-E959E1B16C4C}"/>
              </a:ext>
            </a:extLst>
          </p:cNvPr>
          <p:cNvSpPr>
            <a:spLocks noGrp="1"/>
          </p:cNvSpPr>
          <p:nvPr>
            <p:ph type="title"/>
          </p:nvPr>
        </p:nvSpPr>
        <p:spPr>
          <a:xfrm>
            <a:off x="4741813" y="634086"/>
            <a:ext cx="2708373" cy="1456267"/>
          </a:xfrm>
        </p:spPr>
        <p:txBody>
          <a:bodyPr>
            <a:normAutofit/>
          </a:bodyPr>
          <a:lstStyle/>
          <a:p>
            <a:r>
              <a:rPr kumimoji="1" lang="ja-JP" altLang="en-US" sz="4800" b="1" u="sng" dirty="0">
                <a:latin typeface="HGS創英角ｺﾞｼｯｸUB" panose="020B0900000000000000" pitchFamily="50" charset="-128"/>
                <a:ea typeface="HGS創英角ｺﾞｼｯｸUB" panose="020B0900000000000000" pitchFamily="50" charset="-128"/>
              </a:rPr>
              <a:t>主な機能</a:t>
            </a:r>
          </a:p>
        </p:txBody>
      </p:sp>
      <p:sp>
        <p:nvSpPr>
          <p:cNvPr id="3" name="コンテンツ プレースホルダー 2">
            <a:extLst>
              <a:ext uri="{FF2B5EF4-FFF2-40B4-BE49-F238E27FC236}">
                <a16:creationId xmlns:a16="http://schemas.microsoft.com/office/drawing/2014/main" id="{C8B4AEE0-6B2A-7953-D025-AB91CB4F2616}"/>
              </a:ext>
            </a:extLst>
          </p:cNvPr>
          <p:cNvSpPr>
            <a:spLocks noGrp="1"/>
          </p:cNvSpPr>
          <p:nvPr>
            <p:ph idx="1"/>
          </p:nvPr>
        </p:nvSpPr>
        <p:spPr>
          <a:xfrm>
            <a:off x="685801" y="2451556"/>
            <a:ext cx="10131425" cy="3649133"/>
          </a:xfrm>
        </p:spPr>
        <p:txBody>
          <a:bodyPr>
            <a:normAutofit/>
          </a:bodyPr>
          <a:lstStyle/>
          <a:p>
            <a:pPr marL="0" indent="0">
              <a:buNone/>
            </a:pP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・ランダムで強力なパスワードを</a:t>
            </a:r>
            <a:r>
              <a:rPr lang="ja-JP" altLang="en-US" sz="4000" u="sng" dirty="0">
                <a:solidFill>
                  <a:schemeClr val="tx1"/>
                </a:solidFill>
                <a:latin typeface="HGP創英角ﾎﾟｯﾌﾟ体" panose="040B0A00000000000000" pitchFamily="50" charset="-128"/>
                <a:ea typeface="HGP創英角ﾎﾟｯﾌﾟ体" panose="040B0A00000000000000" pitchFamily="50" charset="-128"/>
              </a:rPr>
              <a:t>自動生成機能</a:t>
            </a:r>
            <a:endParaRPr lang="en-US" altLang="ja-JP" sz="4000" u="sng"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endParaRPr lang="en-US" altLang="ja-JP" sz="4000"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・サイト名、ユーザー名、パスワード、</a:t>
            </a:r>
            <a:r>
              <a:rPr lang="en-US" altLang="ja-JP" sz="4000" dirty="0">
                <a:solidFill>
                  <a:schemeClr val="tx1"/>
                </a:solidFill>
                <a:latin typeface="HGP創英角ﾎﾟｯﾌﾟ体" panose="040B0A00000000000000" pitchFamily="50" charset="-128"/>
                <a:ea typeface="HGP創英角ﾎﾟｯﾌﾟ体" panose="040B0A00000000000000" pitchFamily="50" charset="-128"/>
              </a:rPr>
              <a:t>URL</a:t>
            </a: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を</a:t>
            </a:r>
            <a:endParaRPr lang="en-US" altLang="ja-JP" sz="4000"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　ローカルデータベースに</a:t>
            </a:r>
            <a:r>
              <a:rPr lang="ja-JP" altLang="en-US" sz="4000" u="sng" dirty="0">
                <a:solidFill>
                  <a:schemeClr val="tx1"/>
                </a:solidFill>
                <a:latin typeface="HGP創英角ﾎﾟｯﾌﾟ体" panose="040B0A00000000000000" pitchFamily="50" charset="-128"/>
                <a:ea typeface="HGP創英角ﾎﾟｯﾌﾟ体" panose="040B0A00000000000000" pitchFamily="50" charset="-128"/>
              </a:rPr>
              <a:t>安全に保存</a:t>
            </a: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する機能</a:t>
            </a:r>
            <a:endParaRPr lang="en-US" altLang="ja-JP" sz="4000"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endParaRPr kumimoji="1" lang="ja-JP" altLang="en-US" dirty="0"/>
          </a:p>
        </p:txBody>
      </p:sp>
    </p:spTree>
    <p:extLst>
      <p:ext uri="{BB962C8B-B14F-4D97-AF65-F5344CB8AC3E}">
        <p14:creationId xmlns:p14="http://schemas.microsoft.com/office/powerpoint/2010/main" val="3762957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23E479-87CC-1B4C-3BC8-317F0B219B25}"/>
              </a:ext>
            </a:extLst>
          </p:cNvPr>
          <p:cNvSpPr>
            <a:spLocks noGrp="1"/>
          </p:cNvSpPr>
          <p:nvPr>
            <p:ph type="title"/>
          </p:nvPr>
        </p:nvSpPr>
        <p:spPr>
          <a:xfrm>
            <a:off x="4113700" y="880374"/>
            <a:ext cx="3964600" cy="984561"/>
          </a:xfrm>
        </p:spPr>
        <p:txBody>
          <a:bodyPr>
            <a:noAutofit/>
          </a:bodyPr>
          <a:lstStyle/>
          <a:p>
            <a:r>
              <a:rPr lang="ja-JP" altLang="en-US" sz="4800" b="1" u="sng" dirty="0">
                <a:latin typeface="HGS創英角ｺﾞｼｯｸUB" panose="020B0900000000000000" pitchFamily="50" charset="-128"/>
                <a:ea typeface="HGS創英角ｺﾞｼｯｸUB" panose="020B0900000000000000" pitchFamily="50" charset="-128"/>
              </a:rPr>
              <a:t>主な使用技術</a:t>
            </a:r>
            <a:endParaRPr kumimoji="1" lang="ja-JP" altLang="en-US" sz="4800" b="1" u="sng" dirty="0">
              <a:latin typeface="HGS創英角ｺﾞｼｯｸUB" panose="020B0900000000000000" pitchFamily="50" charset="-128"/>
              <a:ea typeface="HGS創英角ｺﾞｼｯｸUB" panose="020B0900000000000000" pitchFamily="50" charset="-128"/>
            </a:endParaRPr>
          </a:p>
        </p:txBody>
      </p:sp>
      <p:sp>
        <p:nvSpPr>
          <p:cNvPr id="5" name="テキスト ボックス 4">
            <a:extLst>
              <a:ext uri="{FF2B5EF4-FFF2-40B4-BE49-F238E27FC236}">
                <a16:creationId xmlns:a16="http://schemas.microsoft.com/office/drawing/2014/main" id="{AB639D34-B223-6814-4644-AA3C5E7C8FD8}"/>
              </a:ext>
            </a:extLst>
          </p:cNvPr>
          <p:cNvSpPr txBox="1"/>
          <p:nvPr/>
        </p:nvSpPr>
        <p:spPr>
          <a:xfrm>
            <a:off x="643595" y="2480058"/>
            <a:ext cx="10904808" cy="584775"/>
          </a:xfrm>
          <a:prstGeom prst="rect">
            <a:avLst/>
          </a:prstGeom>
          <a:noFill/>
        </p:spPr>
        <p:txBody>
          <a:bodyPr wrap="square" rtlCol="0">
            <a:spAutoFit/>
          </a:bodyPr>
          <a:lstStyle/>
          <a:p>
            <a:r>
              <a:rPr kumimoji="1" lang="ja-JP" altLang="en-US" sz="3200" dirty="0">
                <a:latin typeface="HGP創英角ﾎﾟｯﾌﾟ体" panose="040B0A00000000000000" pitchFamily="50" charset="-128"/>
                <a:ea typeface="HGP創英角ﾎﾟｯﾌﾟ体" panose="040B0A00000000000000" pitchFamily="50" charset="-128"/>
              </a:rPr>
              <a:t>・</a:t>
            </a:r>
            <a:r>
              <a:rPr kumimoji="1" lang="en-US" altLang="ja-JP" sz="3200" dirty="0">
                <a:latin typeface="HGP創英角ﾎﾟｯﾌﾟ体" panose="040B0A00000000000000" pitchFamily="50" charset="-128"/>
                <a:ea typeface="HGP創英角ﾎﾟｯﾌﾟ体" panose="040B0A00000000000000" pitchFamily="50" charset="-128"/>
              </a:rPr>
              <a:t>Flutter</a:t>
            </a:r>
            <a:r>
              <a:rPr kumimoji="1" lang="ja-JP" altLang="en-US" sz="3200" dirty="0">
                <a:latin typeface="HGP創英角ﾎﾟｯﾌﾟ体" panose="040B0A00000000000000" pitchFamily="50" charset="-128"/>
                <a:ea typeface="HGP創英角ﾎﾟｯﾌﾟ体" panose="040B0A00000000000000" pitchFamily="50" charset="-128"/>
              </a:rPr>
              <a:t>（</a:t>
            </a:r>
            <a:r>
              <a:rPr kumimoji="1" lang="en-US" altLang="ja-JP" sz="3200" dirty="0">
                <a:latin typeface="HGP創英角ﾎﾟｯﾌﾟ体" panose="040B0A00000000000000" pitchFamily="50" charset="-128"/>
                <a:ea typeface="HGP創英角ﾎﾟｯﾌﾟ体" panose="040B0A00000000000000" pitchFamily="50" charset="-128"/>
              </a:rPr>
              <a:t>Android</a:t>
            </a:r>
            <a:r>
              <a:rPr kumimoji="1" lang="ja-JP" altLang="en-US" sz="3200" dirty="0">
                <a:latin typeface="HGP創英角ﾎﾟｯﾌﾟ体" panose="040B0A00000000000000" pitchFamily="50" charset="-128"/>
                <a:ea typeface="HGP創英角ﾎﾟｯﾌﾟ体" panose="040B0A00000000000000" pitchFamily="50" charset="-128"/>
              </a:rPr>
              <a:t>と</a:t>
            </a:r>
            <a:r>
              <a:rPr kumimoji="1" lang="en-US" altLang="ja-JP" sz="3200" dirty="0" err="1">
                <a:latin typeface="HGP創英角ﾎﾟｯﾌﾟ体" panose="040B0A00000000000000" pitchFamily="50" charset="-128"/>
                <a:ea typeface="HGP創英角ﾎﾟｯﾌﾟ体" panose="040B0A00000000000000" pitchFamily="50" charset="-128"/>
              </a:rPr>
              <a:t>ios</a:t>
            </a:r>
            <a:r>
              <a:rPr kumimoji="1" lang="ja-JP" altLang="en-US" sz="3200" dirty="0">
                <a:latin typeface="HGP創英角ﾎﾟｯﾌﾟ体" panose="040B0A00000000000000" pitchFamily="50" charset="-128"/>
                <a:ea typeface="HGP創英角ﾎﾟｯﾌﾟ体" panose="040B0A00000000000000" pitchFamily="50" charset="-128"/>
              </a:rPr>
              <a:t>の両方に対応するためフレームワーク）</a:t>
            </a:r>
          </a:p>
        </p:txBody>
      </p:sp>
      <p:sp>
        <p:nvSpPr>
          <p:cNvPr id="6" name="テキスト ボックス 5">
            <a:extLst>
              <a:ext uri="{FF2B5EF4-FFF2-40B4-BE49-F238E27FC236}">
                <a16:creationId xmlns:a16="http://schemas.microsoft.com/office/drawing/2014/main" id="{F8CEDB40-3B23-A8C2-DF09-B5C9A711B116}"/>
              </a:ext>
            </a:extLst>
          </p:cNvPr>
          <p:cNvSpPr txBox="1"/>
          <p:nvPr/>
        </p:nvSpPr>
        <p:spPr>
          <a:xfrm>
            <a:off x="643595" y="3208393"/>
            <a:ext cx="6997428"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Dart</a:t>
            </a:r>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Flutter</a:t>
            </a:r>
            <a:r>
              <a:rPr kumimoji="1" lang="ja-JP" altLang="en-US" sz="3200" b="1" dirty="0">
                <a:latin typeface="HGP創英角ﾎﾟｯﾌﾟ体" panose="040B0A00000000000000" pitchFamily="50" charset="-128"/>
                <a:ea typeface="HGP創英角ﾎﾟｯﾌﾟ体" panose="040B0A00000000000000" pitchFamily="50" charset="-128"/>
              </a:rPr>
              <a:t>と相性のいい開発言語）</a:t>
            </a:r>
          </a:p>
        </p:txBody>
      </p:sp>
      <p:sp>
        <p:nvSpPr>
          <p:cNvPr id="7" name="テキスト ボックス 6">
            <a:extLst>
              <a:ext uri="{FF2B5EF4-FFF2-40B4-BE49-F238E27FC236}">
                <a16:creationId xmlns:a16="http://schemas.microsoft.com/office/drawing/2014/main" id="{B64866F8-636C-5F8C-1843-F0AB65E73469}"/>
              </a:ext>
            </a:extLst>
          </p:cNvPr>
          <p:cNvSpPr txBox="1"/>
          <p:nvPr/>
        </p:nvSpPr>
        <p:spPr>
          <a:xfrm>
            <a:off x="643595" y="4003231"/>
            <a:ext cx="11083483"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Isar</a:t>
            </a:r>
            <a:r>
              <a:rPr kumimoji="1" lang="ja-JP" altLang="en-US" sz="3200" b="1" dirty="0">
                <a:latin typeface="HGP創英角ﾎﾟｯﾌﾟ体" panose="040B0A00000000000000" pitchFamily="50" charset="-128"/>
                <a:ea typeface="HGP創英角ﾎﾟｯﾌﾟ体" panose="040B0A00000000000000" pitchFamily="50" charset="-128"/>
              </a:rPr>
              <a:t>（データの保存や管理をするためのローカルデータベース）</a:t>
            </a:r>
          </a:p>
        </p:txBody>
      </p:sp>
      <p:sp>
        <p:nvSpPr>
          <p:cNvPr id="8" name="テキスト ボックス 7">
            <a:extLst>
              <a:ext uri="{FF2B5EF4-FFF2-40B4-BE49-F238E27FC236}">
                <a16:creationId xmlns:a16="http://schemas.microsoft.com/office/drawing/2014/main" id="{20C90197-404B-E4EE-7296-9159D71116A2}"/>
              </a:ext>
            </a:extLst>
          </p:cNvPr>
          <p:cNvSpPr txBox="1"/>
          <p:nvPr/>
        </p:nvSpPr>
        <p:spPr>
          <a:xfrm>
            <a:off x="643595" y="4726292"/>
            <a:ext cx="7931980"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err="1">
                <a:latin typeface="HGP創英角ﾎﾟｯﾌﾟ体" panose="040B0A00000000000000" pitchFamily="50" charset="-128"/>
                <a:ea typeface="HGP創英角ﾎﾟｯﾌﾟ体" panose="040B0A00000000000000" pitchFamily="50" charset="-128"/>
              </a:rPr>
              <a:t>flutter_secure_storage</a:t>
            </a:r>
            <a:r>
              <a:rPr kumimoji="1" lang="en-US" altLang="ja-JP" sz="3200" b="1" dirty="0">
                <a:latin typeface="HGP創英角ﾎﾟｯﾌﾟ体" panose="040B0A00000000000000" pitchFamily="50" charset="-128"/>
                <a:ea typeface="HGP創英角ﾎﾟｯﾌﾟ体" panose="040B0A00000000000000" pitchFamily="50" charset="-128"/>
              </a:rPr>
              <a:t>(</a:t>
            </a:r>
            <a:r>
              <a:rPr kumimoji="1" lang="ja-JP" altLang="en-US" sz="3200" b="1" dirty="0">
                <a:latin typeface="HGP創英角ﾎﾟｯﾌﾟ体" panose="040B0A00000000000000" pitchFamily="50" charset="-128"/>
                <a:ea typeface="HGP創英角ﾎﾟｯﾌﾟ体" panose="040B0A00000000000000" pitchFamily="50" charset="-128"/>
              </a:rPr>
              <a:t>機密情報の保管</a:t>
            </a:r>
            <a:r>
              <a:rPr kumimoji="1" lang="en-US" altLang="ja-JP" sz="3200" b="1" dirty="0">
                <a:latin typeface="HGP創英角ﾎﾟｯﾌﾟ体" panose="040B0A00000000000000" pitchFamily="50" charset="-128"/>
                <a:ea typeface="HGP創英角ﾎﾟｯﾌﾟ体" panose="040B0A00000000000000" pitchFamily="50" charset="-128"/>
              </a:rPr>
              <a:t>)</a:t>
            </a:r>
            <a:endParaRPr kumimoji="1" lang="ja-JP" altLang="en-US" sz="3200" b="1" dirty="0">
              <a:latin typeface="HGP創英角ﾎﾟｯﾌﾟ体" panose="040B0A00000000000000" pitchFamily="50" charset="-128"/>
              <a:ea typeface="HGP創英角ﾎﾟｯﾌﾟ体" panose="040B0A00000000000000" pitchFamily="50" charset="-128"/>
            </a:endParaRPr>
          </a:p>
        </p:txBody>
      </p:sp>
      <p:sp>
        <p:nvSpPr>
          <p:cNvPr id="9" name="テキスト ボックス 8">
            <a:extLst>
              <a:ext uri="{FF2B5EF4-FFF2-40B4-BE49-F238E27FC236}">
                <a16:creationId xmlns:a16="http://schemas.microsoft.com/office/drawing/2014/main" id="{50769E9E-526F-4B96-D4F5-59DBCBF6A72E}"/>
              </a:ext>
            </a:extLst>
          </p:cNvPr>
          <p:cNvSpPr txBox="1"/>
          <p:nvPr/>
        </p:nvSpPr>
        <p:spPr>
          <a:xfrm>
            <a:off x="643595" y="5449353"/>
            <a:ext cx="10094430" cy="584775"/>
          </a:xfrm>
          <a:prstGeom prst="rect">
            <a:avLst/>
          </a:prstGeom>
          <a:noFill/>
        </p:spPr>
        <p:txBody>
          <a:bodyPr wrap="none" rtlCol="0">
            <a:spAutoFit/>
          </a:bodyPr>
          <a:lstStyle/>
          <a:p>
            <a:r>
              <a:rPr lang="ja-JP" altLang="en-US" sz="3200" b="1" dirty="0">
                <a:latin typeface="HGP創英角ﾎﾟｯﾌﾟ体" panose="040B0A00000000000000" pitchFamily="50" charset="-128"/>
                <a:ea typeface="HGP創英角ﾎﾟｯﾌﾟ体" panose="040B0A00000000000000" pitchFamily="50" charset="-128"/>
              </a:rPr>
              <a:t>・</a:t>
            </a:r>
            <a:r>
              <a:rPr lang="en-US" altLang="ja-JP" sz="3200" b="1" dirty="0">
                <a:latin typeface="HGP創英角ﾎﾟｯﾌﾟ体" panose="040B0A00000000000000" pitchFamily="50" charset="-128"/>
                <a:ea typeface="HGP創英角ﾎﾟｯﾌﾟ体" panose="040B0A00000000000000" pitchFamily="50" charset="-128"/>
              </a:rPr>
              <a:t>AES-256 GCM(encrypt </a:t>
            </a:r>
            <a:r>
              <a:rPr lang="ja-JP" altLang="en-US" sz="3200" b="1" dirty="0">
                <a:latin typeface="HGP創英角ﾎﾟｯﾌﾟ体" panose="040B0A00000000000000" pitchFamily="50" charset="-128"/>
                <a:ea typeface="HGP創英角ﾎﾟｯﾌﾟ体" panose="040B0A00000000000000" pitchFamily="50" charset="-128"/>
              </a:rPr>
              <a:t>パッケージを使用した暗号化</a:t>
            </a:r>
            <a:r>
              <a:rPr lang="en-US" altLang="ja-JP" sz="3200" b="1" dirty="0">
                <a:latin typeface="HGP創英角ﾎﾟｯﾌﾟ体" panose="040B0A00000000000000" pitchFamily="50" charset="-128"/>
                <a:ea typeface="HGP創英角ﾎﾟｯﾌﾟ体" panose="040B0A00000000000000" pitchFamily="50" charset="-128"/>
              </a:rPr>
              <a:t>)</a:t>
            </a:r>
            <a:endParaRPr kumimoji="1" lang="ja-JP" altLang="en-US" sz="3200" b="1" dirty="0">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43212075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1000"/>
                                        <p:tgtEl>
                                          <p:spTgt spid="5">
                                            <p:txEl>
                                              <p:pRg st="0" end="0"/>
                                            </p:txEl>
                                          </p:spTgt>
                                        </p:tgtEl>
                                      </p:cBhvr>
                                    </p:animEffect>
                                    <p:anim calcmode="lin" valueType="num">
                                      <p:cBhvr>
                                        <p:cTn id="13"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animEffect transition="in" filter="fade">
                                      <p:cBhvr>
                                        <p:cTn id="19" dur="1000"/>
                                        <p:tgtEl>
                                          <p:spTgt spid="6">
                                            <p:txEl>
                                              <p:pRg st="0" end="0"/>
                                            </p:txEl>
                                          </p:spTgt>
                                        </p:tgtEl>
                                      </p:cBhvr>
                                    </p:animEffect>
                                    <p:anim calcmode="lin" valueType="num">
                                      <p:cBhvr>
                                        <p:cTn id="20"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21"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7">
                                            <p:txEl>
                                              <p:pRg st="0" end="0"/>
                                            </p:txEl>
                                          </p:spTgt>
                                        </p:tgtEl>
                                        <p:attrNameLst>
                                          <p:attrName>style.visibility</p:attrName>
                                        </p:attrNameLst>
                                      </p:cBhvr>
                                      <p:to>
                                        <p:strVal val="visible"/>
                                      </p:to>
                                    </p:set>
                                    <p:animEffect transition="in" filter="fade">
                                      <p:cBhvr>
                                        <p:cTn id="26" dur="1000"/>
                                        <p:tgtEl>
                                          <p:spTgt spid="7">
                                            <p:txEl>
                                              <p:pRg st="0" end="0"/>
                                            </p:txEl>
                                          </p:spTgt>
                                        </p:tgtEl>
                                      </p:cBhvr>
                                    </p:animEffect>
                                    <p:anim calcmode="lin" valueType="num">
                                      <p:cBhvr>
                                        <p:cTn id="27"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nodeType="clickEffect">
                                  <p:stCondLst>
                                    <p:cond delay="0"/>
                                  </p:stCondLst>
                                  <p:childTnLst>
                                    <p:set>
                                      <p:cBhvr>
                                        <p:cTn id="32" dur="1" fill="hold">
                                          <p:stCondLst>
                                            <p:cond delay="0"/>
                                          </p:stCondLst>
                                        </p:cTn>
                                        <p:tgtEl>
                                          <p:spTgt spid="8">
                                            <p:txEl>
                                              <p:pRg st="0" end="0"/>
                                            </p:txEl>
                                          </p:spTgt>
                                        </p:tgtEl>
                                        <p:attrNameLst>
                                          <p:attrName>style.visibility</p:attrName>
                                        </p:attrNameLst>
                                      </p:cBhvr>
                                      <p:to>
                                        <p:strVal val="visible"/>
                                      </p:to>
                                    </p:set>
                                    <p:animEffect transition="in" filter="fade">
                                      <p:cBhvr>
                                        <p:cTn id="33" dur="1000"/>
                                        <p:tgtEl>
                                          <p:spTgt spid="8">
                                            <p:txEl>
                                              <p:pRg st="0" end="0"/>
                                            </p:txEl>
                                          </p:spTgt>
                                        </p:tgtEl>
                                      </p:cBhvr>
                                    </p:animEffect>
                                    <p:anim calcmode="lin" valueType="num">
                                      <p:cBhvr>
                                        <p:cTn id="34"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35"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nodeType="clickEffect">
                                  <p:stCondLst>
                                    <p:cond delay="0"/>
                                  </p:stCondLst>
                                  <p:childTnLst>
                                    <p:set>
                                      <p:cBhvr>
                                        <p:cTn id="39" dur="1" fill="hold">
                                          <p:stCondLst>
                                            <p:cond delay="0"/>
                                          </p:stCondLst>
                                        </p:cTn>
                                        <p:tgtEl>
                                          <p:spTgt spid="9">
                                            <p:txEl>
                                              <p:pRg st="0" end="0"/>
                                            </p:txEl>
                                          </p:spTgt>
                                        </p:tgtEl>
                                        <p:attrNameLst>
                                          <p:attrName>style.visibility</p:attrName>
                                        </p:attrNameLst>
                                      </p:cBhvr>
                                      <p:to>
                                        <p:strVal val="visible"/>
                                      </p:to>
                                    </p:set>
                                    <p:animEffect transition="in" filter="fade">
                                      <p:cBhvr>
                                        <p:cTn id="40" dur="1000"/>
                                        <p:tgtEl>
                                          <p:spTgt spid="9">
                                            <p:txEl>
                                              <p:pRg st="0" end="0"/>
                                            </p:txEl>
                                          </p:spTgt>
                                        </p:tgtEl>
                                      </p:cBhvr>
                                    </p:animEffect>
                                    <p:anim calcmode="lin" valueType="num">
                                      <p:cBhvr>
                                        <p:cTn id="41" dur="1000" fill="hold"/>
                                        <p:tgtEl>
                                          <p:spTgt spid="9">
                                            <p:txEl>
                                              <p:pRg st="0" end="0"/>
                                            </p:txEl>
                                          </p:spTgt>
                                        </p:tgtEl>
                                        <p:attrNameLst>
                                          <p:attrName>ppt_x</p:attrName>
                                        </p:attrNameLst>
                                      </p:cBhvr>
                                      <p:tavLst>
                                        <p:tav tm="0">
                                          <p:val>
                                            <p:strVal val="#ppt_x"/>
                                          </p:val>
                                        </p:tav>
                                        <p:tav tm="100000">
                                          <p:val>
                                            <p:strVal val="#ppt_x"/>
                                          </p:val>
                                        </p:tav>
                                      </p:tavLst>
                                    </p:anim>
                                    <p:anim calcmode="lin" valueType="num">
                                      <p:cBhvr>
                                        <p:cTn id="42" dur="1000" fill="hold"/>
                                        <p:tgtEl>
                                          <p:spTgt spid="9">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37EB08-19ED-1515-291B-3B5488570C27}"/>
              </a:ext>
            </a:extLst>
          </p:cNvPr>
          <p:cNvSpPr>
            <a:spLocks noGrp="1"/>
          </p:cNvSpPr>
          <p:nvPr>
            <p:ph type="title"/>
          </p:nvPr>
        </p:nvSpPr>
        <p:spPr>
          <a:xfrm>
            <a:off x="2556804" y="472440"/>
            <a:ext cx="4533313" cy="1456267"/>
          </a:xfrm>
        </p:spPr>
        <p:txBody>
          <a:bodyPr>
            <a:normAutofit/>
          </a:bodyPr>
          <a:lstStyle/>
          <a:p>
            <a:r>
              <a:rPr kumimoji="1" lang="ja-JP" altLang="en-US" sz="4800" b="1" u="sng" dirty="0">
                <a:latin typeface="HGS創英角ｺﾞｼｯｸUB" panose="020B0900000000000000" pitchFamily="50" charset="-128"/>
                <a:ea typeface="HGS創英角ｺﾞｼｯｸUB" panose="020B0900000000000000" pitchFamily="50" charset="-128"/>
              </a:rPr>
              <a:t>作成済みの機能</a:t>
            </a:r>
          </a:p>
        </p:txBody>
      </p:sp>
      <p:sp>
        <p:nvSpPr>
          <p:cNvPr id="3" name="コンテンツ プレースホルダー 2">
            <a:extLst>
              <a:ext uri="{FF2B5EF4-FFF2-40B4-BE49-F238E27FC236}">
                <a16:creationId xmlns:a16="http://schemas.microsoft.com/office/drawing/2014/main" id="{50D6F9FD-DBA3-D112-CDF9-C53441337EB5}"/>
              </a:ext>
            </a:extLst>
          </p:cNvPr>
          <p:cNvSpPr>
            <a:spLocks noGrp="1"/>
          </p:cNvSpPr>
          <p:nvPr>
            <p:ph idx="1"/>
          </p:nvPr>
        </p:nvSpPr>
        <p:spPr>
          <a:xfrm>
            <a:off x="2422574" y="2325794"/>
            <a:ext cx="7346851" cy="3649133"/>
          </a:xfrm>
        </p:spPr>
        <p:txBody>
          <a:bodyPr>
            <a:normAutofit lnSpcReduction="10000"/>
          </a:bodyPr>
          <a:lstStyle/>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・パスワード自動生成</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・パスワード登録、編集、コピー、削除</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PIN/</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生体情報</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指紋</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による認証</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・保存するデータの暗号化</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・ローカル</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DB</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による永続化</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endParaRPr kumimoji="1" lang="en-US" altLang="ja-JP" dirty="0"/>
          </a:p>
        </p:txBody>
      </p:sp>
      <p:sp>
        <p:nvSpPr>
          <p:cNvPr id="4" name="コンテンツ プレースホルダー 2">
            <a:extLst>
              <a:ext uri="{FF2B5EF4-FFF2-40B4-BE49-F238E27FC236}">
                <a16:creationId xmlns:a16="http://schemas.microsoft.com/office/drawing/2014/main" id="{63789F3B-F746-95D7-8EF1-4788B81E4473}"/>
              </a:ext>
            </a:extLst>
          </p:cNvPr>
          <p:cNvSpPr txBox="1">
            <a:spLocks/>
          </p:cNvSpPr>
          <p:nvPr/>
        </p:nvSpPr>
        <p:spPr>
          <a:xfrm>
            <a:off x="6859922" y="883073"/>
            <a:ext cx="3108161" cy="777240"/>
          </a:xfrm>
          <a:prstGeom prst="rect">
            <a:avLst/>
          </a:prstGeom>
        </p:spPr>
        <p:txBody>
          <a:bodyPr vert="horz" lIns="91440" tIns="45720" rIns="91440" bIns="45720" rtlCol="0" anchor="ctr">
            <a:noAutofit/>
          </a:bodyPr>
          <a:lstStyle>
            <a:lvl1pPr marL="285750" indent="-285750" algn="l" defTabSz="457200" rtl="0" eaLnBrk="1" latinLnBrk="0" hangingPunct="1">
              <a:spcBef>
                <a:spcPts val="0"/>
              </a:spcBef>
              <a:spcAft>
                <a:spcPts val="1000"/>
              </a:spcAft>
              <a:buClr>
                <a:schemeClr val="tx1"/>
              </a:buClr>
              <a:buSzPct val="100000"/>
              <a:buFont typeface="Arial"/>
              <a:buChar char="•"/>
              <a:defRPr kumimoji="1"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kumimoji="1"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kumimoji="1"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9pPr>
          </a:lstStyle>
          <a:p>
            <a:pPr marL="0" indent="0">
              <a:buFont typeface="Arial"/>
              <a:buNone/>
            </a:pPr>
            <a:r>
              <a:rPr lang="en-US" altLang="ja-JP" sz="3600" b="1" dirty="0">
                <a:latin typeface="HGP創英角ﾎﾟｯﾌﾟ体" panose="040B0A00000000000000" pitchFamily="50" charset="-128"/>
                <a:ea typeface="HGP創英角ﾎﾟｯﾌﾟ体" panose="040B0A00000000000000" pitchFamily="50" charset="-128"/>
              </a:rPr>
              <a:t>(Android</a:t>
            </a:r>
            <a:r>
              <a:rPr lang="ja-JP" altLang="en-US" sz="3600" b="1" dirty="0">
                <a:latin typeface="HGP創英角ﾎﾟｯﾌﾟ体" panose="040B0A00000000000000" pitchFamily="50" charset="-128"/>
                <a:ea typeface="HGP創英角ﾎﾟｯﾌﾟ体" panose="040B0A00000000000000" pitchFamily="50" charset="-128"/>
              </a:rPr>
              <a:t>のみ</a:t>
            </a:r>
            <a:r>
              <a:rPr lang="en-US" altLang="ja-JP" sz="3600" b="1" dirty="0">
                <a:latin typeface="HGP創英角ﾎﾟｯﾌﾟ体" panose="040B0A00000000000000" pitchFamily="50" charset="-128"/>
                <a:ea typeface="HGP創英角ﾎﾟｯﾌﾟ体" panose="040B0A00000000000000" pitchFamily="50" charset="-128"/>
              </a:rPr>
              <a:t>)</a:t>
            </a:r>
          </a:p>
        </p:txBody>
      </p:sp>
    </p:spTree>
    <p:extLst>
      <p:ext uri="{BB962C8B-B14F-4D97-AF65-F5344CB8AC3E}">
        <p14:creationId xmlns:p14="http://schemas.microsoft.com/office/powerpoint/2010/main" val="398062367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50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animEffect transition="in" filter="fade">
                                      <p:cBhvr>
                                        <p:cTn id="15" dur="1000"/>
                                        <p:tgtEl>
                                          <p:spTgt spid="3">
                                            <p:txEl>
                                              <p:pRg st="0" end="0"/>
                                            </p:txEl>
                                          </p:spTgt>
                                        </p:tgtEl>
                                      </p:cBhvr>
                                    </p:animEffect>
                                    <p:anim calcmode="lin" valueType="num">
                                      <p:cBhvr>
                                        <p:cTn id="16"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7"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1000"/>
                                        <p:tgtEl>
                                          <p:spTgt spid="3">
                                            <p:txEl>
                                              <p:pRg st="1" end="1"/>
                                            </p:txEl>
                                          </p:spTgt>
                                        </p:tgtEl>
                                      </p:cBhvr>
                                    </p:animEffect>
                                    <p:anim calcmode="lin" valueType="num">
                                      <p:cBhvr>
                                        <p:cTn id="2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2" end="2"/>
                                            </p:txEl>
                                          </p:spTgt>
                                        </p:tgtEl>
                                        <p:attrNameLst>
                                          <p:attrName>style.visibility</p:attrName>
                                        </p:attrNameLst>
                                      </p:cBhvr>
                                      <p:to>
                                        <p:strVal val="visible"/>
                                      </p:to>
                                    </p:set>
                                    <p:animEffect transition="in" filter="fade">
                                      <p:cBhvr>
                                        <p:cTn id="29" dur="1000"/>
                                        <p:tgtEl>
                                          <p:spTgt spid="3">
                                            <p:txEl>
                                              <p:pRg st="2" end="2"/>
                                            </p:txEl>
                                          </p:spTgt>
                                        </p:tgtEl>
                                      </p:cBhvr>
                                    </p:animEffect>
                                    <p:anim calcmode="lin" valueType="num">
                                      <p:cBhvr>
                                        <p:cTn id="3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3">
                                            <p:txEl>
                                              <p:pRg st="3" end="3"/>
                                            </p:txEl>
                                          </p:spTgt>
                                        </p:tgtEl>
                                        <p:attrNameLst>
                                          <p:attrName>style.visibility</p:attrName>
                                        </p:attrNameLst>
                                      </p:cBhvr>
                                      <p:to>
                                        <p:strVal val="visible"/>
                                      </p:to>
                                    </p:set>
                                    <p:animEffect transition="in" filter="fade">
                                      <p:cBhvr>
                                        <p:cTn id="36" dur="1000"/>
                                        <p:tgtEl>
                                          <p:spTgt spid="3">
                                            <p:txEl>
                                              <p:pRg st="3" end="3"/>
                                            </p:txEl>
                                          </p:spTgt>
                                        </p:tgtEl>
                                      </p:cBhvr>
                                    </p:animEffect>
                                    <p:anim calcmode="lin" valueType="num">
                                      <p:cBhvr>
                                        <p:cTn id="37"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Effect transition="in" filter="fade">
                                      <p:cBhvr>
                                        <p:cTn id="43" dur="1000"/>
                                        <p:tgtEl>
                                          <p:spTgt spid="3">
                                            <p:txEl>
                                              <p:pRg st="4" end="4"/>
                                            </p:txEl>
                                          </p:spTgt>
                                        </p:tgtEl>
                                      </p:cBhvr>
                                    </p:animEffect>
                                    <p:anim calcmode="lin" valueType="num">
                                      <p:cBhvr>
                                        <p:cTn id="4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7E0AD1A6-0AB4-7D32-83A6-2FD940DD40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9441" y="1714500"/>
            <a:ext cx="1914164" cy="3421453"/>
          </a:xfrm>
          <a:prstGeom prst="rect">
            <a:avLst/>
          </a:prstGeom>
        </p:spPr>
      </p:pic>
      <p:pic>
        <p:nvPicPr>
          <p:cNvPr id="4" name="図 3">
            <a:extLst>
              <a:ext uri="{FF2B5EF4-FFF2-40B4-BE49-F238E27FC236}">
                <a16:creationId xmlns:a16="http://schemas.microsoft.com/office/drawing/2014/main" id="{2FBD9E8F-BA11-3480-8B6D-37AB191828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9374" y="0"/>
            <a:ext cx="3833251" cy="6858000"/>
          </a:xfrm>
          <a:prstGeom prst="rect">
            <a:avLst/>
          </a:prstGeom>
        </p:spPr>
      </p:pic>
    </p:spTree>
    <p:extLst>
      <p:ext uri="{BB962C8B-B14F-4D97-AF65-F5344CB8AC3E}">
        <p14:creationId xmlns:p14="http://schemas.microsoft.com/office/powerpoint/2010/main" val="1612755616"/>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9BB85-9578-3D21-235D-6D7BA45FF424}"/>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A6B6A49-4E99-4485-0E0D-BBA1D141E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7837" y="1714500"/>
            <a:ext cx="1914163" cy="3429000"/>
          </a:xfrm>
          <a:prstGeom prst="rect">
            <a:avLst/>
          </a:prstGeom>
        </p:spPr>
      </p:pic>
      <p:pic>
        <p:nvPicPr>
          <p:cNvPr id="4" name="図 3">
            <a:extLst>
              <a:ext uri="{FF2B5EF4-FFF2-40B4-BE49-F238E27FC236}">
                <a16:creationId xmlns:a16="http://schemas.microsoft.com/office/drawing/2014/main" id="{7BC3B0B4-3511-8E73-B9E8-35417B72D6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7614" y="0"/>
            <a:ext cx="3836772" cy="6858000"/>
          </a:xfrm>
          <a:prstGeom prst="rect">
            <a:avLst/>
          </a:prstGeom>
        </p:spPr>
      </p:pic>
      <p:pic>
        <p:nvPicPr>
          <p:cNvPr id="3" name="図 2">
            <a:extLst>
              <a:ext uri="{FF2B5EF4-FFF2-40B4-BE49-F238E27FC236}">
                <a16:creationId xmlns:a16="http://schemas.microsoft.com/office/drawing/2014/main" id="{EE2D7D1E-8F01-C9A6-D541-821843E429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63" y="1714499"/>
            <a:ext cx="1916626" cy="3429001"/>
          </a:xfrm>
          <a:prstGeom prst="rect">
            <a:avLst/>
          </a:prstGeom>
        </p:spPr>
      </p:pic>
    </p:spTree>
    <p:extLst>
      <p:ext uri="{BB962C8B-B14F-4D97-AF65-F5344CB8AC3E}">
        <p14:creationId xmlns:p14="http://schemas.microsoft.com/office/powerpoint/2010/main" val="199900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B97C0A6D-D4E1-FFCA-F072-81DF8F4F19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1837" y="0"/>
            <a:ext cx="3828326" cy="6858000"/>
          </a:xfrm>
          <a:prstGeom prst="rect">
            <a:avLst/>
          </a:prstGeom>
        </p:spPr>
      </p:pic>
      <p:pic>
        <p:nvPicPr>
          <p:cNvPr id="5" name="図 4">
            <a:extLst>
              <a:ext uri="{FF2B5EF4-FFF2-40B4-BE49-F238E27FC236}">
                <a16:creationId xmlns:a16="http://schemas.microsoft.com/office/drawing/2014/main" id="{0819AB0B-824B-E85E-F9B0-C98F9295B7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18915"/>
            <a:ext cx="1915886" cy="3424321"/>
          </a:xfrm>
          <a:prstGeom prst="rect">
            <a:avLst/>
          </a:prstGeom>
        </p:spPr>
      </p:pic>
      <p:pic>
        <p:nvPicPr>
          <p:cNvPr id="7" name="図 6">
            <a:extLst>
              <a:ext uri="{FF2B5EF4-FFF2-40B4-BE49-F238E27FC236}">
                <a16:creationId xmlns:a16="http://schemas.microsoft.com/office/drawing/2014/main" id="{E9FF127B-C140-20BF-9CC7-BE8E5C052E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6114" y="1718915"/>
            <a:ext cx="1915886" cy="3434629"/>
          </a:xfrm>
          <a:prstGeom prst="rect">
            <a:avLst/>
          </a:prstGeom>
        </p:spPr>
      </p:pic>
    </p:spTree>
    <p:extLst>
      <p:ext uri="{BB962C8B-B14F-4D97-AF65-F5344CB8AC3E}">
        <p14:creationId xmlns:p14="http://schemas.microsoft.com/office/powerpoint/2010/main" val="14813103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EB7F8395-B343-12A0-6ADE-69BEF51049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3254" y="0"/>
            <a:ext cx="3825492" cy="6858000"/>
          </a:xfrm>
          <a:prstGeom prst="rect">
            <a:avLst/>
          </a:prstGeom>
        </p:spPr>
      </p:pic>
      <p:pic>
        <p:nvPicPr>
          <p:cNvPr id="5" name="図 4">
            <a:extLst>
              <a:ext uri="{FF2B5EF4-FFF2-40B4-BE49-F238E27FC236}">
                <a16:creationId xmlns:a16="http://schemas.microsoft.com/office/drawing/2014/main" id="{47B7DFD8-2DC2-9D0B-F851-44EA82E12B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14500"/>
            <a:ext cx="1914163" cy="3429000"/>
          </a:xfrm>
          <a:prstGeom prst="rect">
            <a:avLst/>
          </a:prstGeom>
        </p:spPr>
      </p:pic>
      <p:pic>
        <p:nvPicPr>
          <p:cNvPr id="7" name="図 6">
            <a:extLst>
              <a:ext uri="{FF2B5EF4-FFF2-40B4-BE49-F238E27FC236}">
                <a16:creationId xmlns:a16="http://schemas.microsoft.com/office/drawing/2014/main" id="{D05F95E7-5E48-4858-D761-542D4CA84E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7837" y="1714500"/>
            <a:ext cx="1913659" cy="3429000"/>
          </a:xfrm>
          <a:prstGeom prst="rect">
            <a:avLst/>
          </a:prstGeom>
        </p:spPr>
      </p:pic>
      <p:pic>
        <p:nvPicPr>
          <p:cNvPr id="2" name="図 1">
            <a:extLst>
              <a:ext uri="{FF2B5EF4-FFF2-40B4-BE49-F238E27FC236}">
                <a16:creationId xmlns:a16="http://schemas.microsoft.com/office/drawing/2014/main" id="{BB90A3D9-6447-91DC-6466-A1F57F489260}"/>
              </a:ext>
            </a:extLst>
          </p:cNvPr>
          <p:cNvPicPr>
            <a:picLocks noChangeAspect="1"/>
          </p:cNvPicPr>
          <p:nvPr/>
        </p:nvPicPr>
        <p:blipFill>
          <a:blip r:embed="rId6">
            <a:extLst>
              <a:ext uri="{28A0092B-C50C-407E-A947-70E740481C1C}">
                <a14:useLocalDpi xmlns:a14="http://schemas.microsoft.com/office/drawing/2010/main" val="0"/>
              </a:ext>
            </a:extLst>
          </a:blip>
          <a:srcRect t="80461"/>
          <a:stretch>
            <a:fillRect/>
          </a:stretch>
        </p:blipFill>
        <p:spPr>
          <a:xfrm>
            <a:off x="10277837" y="4473526"/>
            <a:ext cx="1915570" cy="669974"/>
          </a:xfrm>
          <a:prstGeom prst="rect">
            <a:avLst/>
          </a:prstGeom>
        </p:spPr>
      </p:pic>
    </p:spTree>
    <p:extLst>
      <p:ext uri="{BB962C8B-B14F-4D97-AF65-F5344CB8AC3E}">
        <p14:creationId xmlns:p14="http://schemas.microsoft.com/office/powerpoint/2010/main" val="3531936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5052A-D9EA-7FBD-6A0B-3EDF3AD83DC6}"/>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6877ED2-9732-F7EC-97A8-3D9161E17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4" y="1709963"/>
            <a:ext cx="1915886" cy="3434629"/>
          </a:xfrm>
          <a:prstGeom prst="rect">
            <a:avLst/>
          </a:prstGeom>
        </p:spPr>
      </p:pic>
      <p:pic>
        <p:nvPicPr>
          <p:cNvPr id="7" name="図 6">
            <a:extLst>
              <a:ext uri="{FF2B5EF4-FFF2-40B4-BE49-F238E27FC236}">
                <a16:creationId xmlns:a16="http://schemas.microsoft.com/office/drawing/2014/main" id="{608C6BC6-4397-6C8B-17F7-E6238F3B6B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3254" y="3273"/>
            <a:ext cx="3825492" cy="6854727"/>
          </a:xfrm>
          <a:prstGeom prst="rect">
            <a:avLst/>
          </a:prstGeom>
        </p:spPr>
      </p:pic>
      <p:pic>
        <p:nvPicPr>
          <p:cNvPr id="4" name="図 3">
            <a:extLst>
              <a:ext uri="{FF2B5EF4-FFF2-40B4-BE49-F238E27FC236}">
                <a16:creationId xmlns:a16="http://schemas.microsoft.com/office/drawing/2014/main" id="{15EB12A1-56A0-A4C8-925A-12258D4C12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4828" y="1717779"/>
            <a:ext cx="1907172" cy="3426813"/>
          </a:xfrm>
          <a:prstGeom prst="rect">
            <a:avLst/>
          </a:prstGeom>
        </p:spPr>
      </p:pic>
      <p:pic>
        <p:nvPicPr>
          <p:cNvPr id="2" name="図 1">
            <a:extLst>
              <a:ext uri="{FF2B5EF4-FFF2-40B4-BE49-F238E27FC236}">
                <a16:creationId xmlns:a16="http://schemas.microsoft.com/office/drawing/2014/main" id="{D818EC8A-D7CD-737E-6764-63293228A71A}"/>
              </a:ext>
            </a:extLst>
          </p:cNvPr>
          <p:cNvPicPr>
            <a:picLocks noChangeAspect="1"/>
          </p:cNvPicPr>
          <p:nvPr/>
        </p:nvPicPr>
        <p:blipFill>
          <a:blip r:embed="rId6">
            <a:extLst>
              <a:ext uri="{28A0092B-C50C-407E-A947-70E740481C1C}">
                <a14:useLocalDpi xmlns:a14="http://schemas.microsoft.com/office/drawing/2010/main" val="0"/>
              </a:ext>
            </a:extLst>
          </a:blip>
          <a:srcRect t="80205"/>
          <a:stretch>
            <a:fillRect/>
          </a:stretch>
        </p:blipFill>
        <p:spPr>
          <a:xfrm>
            <a:off x="4180430" y="5500468"/>
            <a:ext cx="3831140" cy="1357532"/>
          </a:xfrm>
          <a:prstGeom prst="rect">
            <a:avLst/>
          </a:prstGeom>
        </p:spPr>
      </p:pic>
    </p:spTree>
    <p:extLst>
      <p:ext uri="{BB962C8B-B14F-4D97-AF65-F5344CB8AC3E}">
        <p14:creationId xmlns:p14="http://schemas.microsoft.com/office/powerpoint/2010/main" val="755257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2B2E2-5A6B-225C-1016-EE287CE09D81}"/>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918AF362-3D66-20BF-A234-E6E1DB49B0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37" y="1714500"/>
            <a:ext cx="1913659" cy="3429000"/>
          </a:xfrm>
          <a:prstGeom prst="rect">
            <a:avLst/>
          </a:prstGeom>
        </p:spPr>
      </p:pic>
      <p:pic>
        <p:nvPicPr>
          <p:cNvPr id="4" name="図 3">
            <a:extLst>
              <a:ext uri="{FF2B5EF4-FFF2-40B4-BE49-F238E27FC236}">
                <a16:creationId xmlns:a16="http://schemas.microsoft.com/office/drawing/2014/main" id="{AD9850D2-DA09-BA20-56AE-327188C77C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7611" y="0"/>
            <a:ext cx="3816778" cy="6858000"/>
          </a:xfrm>
          <a:prstGeom prst="rect">
            <a:avLst/>
          </a:prstGeom>
        </p:spPr>
      </p:pic>
      <p:pic>
        <p:nvPicPr>
          <p:cNvPr id="5" name="図 4">
            <a:extLst>
              <a:ext uri="{FF2B5EF4-FFF2-40B4-BE49-F238E27FC236}">
                <a16:creationId xmlns:a16="http://schemas.microsoft.com/office/drawing/2014/main" id="{8DA307B0-17B5-FE3A-5F0C-0480287BC1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6430" y="1714500"/>
            <a:ext cx="1915570" cy="3429000"/>
          </a:xfrm>
          <a:prstGeom prst="rect">
            <a:avLst/>
          </a:prstGeom>
        </p:spPr>
      </p:pic>
      <p:pic>
        <p:nvPicPr>
          <p:cNvPr id="2" name="図 1">
            <a:extLst>
              <a:ext uri="{FF2B5EF4-FFF2-40B4-BE49-F238E27FC236}">
                <a16:creationId xmlns:a16="http://schemas.microsoft.com/office/drawing/2014/main" id="{42B30259-DCA4-5A73-DA4A-B2B477DFF44B}"/>
              </a:ext>
            </a:extLst>
          </p:cNvPr>
          <p:cNvPicPr>
            <a:picLocks noChangeAspect="1"/>
          </p:cNvPicPr>
          <p:nvPr/>
        </p:nvPicPr>
        <p:blipFill>
          <a:blip r:embed="rId5">
            <a:extLst>
              <a:ext uri="{28A0092B-C50C-407E-A947-70E740481C1C}">
                <a14:useLocalDpi xmlns:a14="http://schemas.microsoft.com/office/drawing/2010/main" val="0"/>
              </a:ext>
            </a:extLst>
          </a:blip>
          <a:srcRect t="80461"/>
          <a:stretch>
            <a:fillRect/>
          </a:stretch>
        </p:blipFill>
        <p:spPr>
          <a:xfrm>
            <a:off x="-5648" y="4473526"/>
            <a:ext cx="1915570" cy="669974"/>
          </a:xfrm>
          <a:prstGeom prst="rect">
            <a:avLst/>
          </a:prstGeom>
        </p:spPr>
      </p:pic>
    </p:spTree>
    <p:extLst>
      <p:ext uri="{BB962C8B-B14F-4D97-AF65-F5344CB8AC3E}">
        <p14:creationId xmlns:p14="http://schemas.microsoft.com/office/powerpoint/2010/main" val="2299023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4AD68-C12B-41BD-FC43-1EF5497962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756B671-85CA-79A8-EBB3-366D6FBE9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5" y="1838148"/>
            <a:ext cx="1908389" cy="3429000"/>
          </a:xfrm>
          <a:prstGeom prst="rect">
            <a:avLst/>
          </a:prstGeom>
        </p:spPr>
      </p:pic>
      <p:pic>
        <p:nvPicPr>
          <p:cNvPr id="5" name="図 4">
            <a:extLst>
              <a:ext uri="{FF2B5EF4-FFF2-40B4-BE49-F238E27FC236}">
                <a16:creationId xmlns:a16="http://schemas.microsoft.com/office/drawing/2014/main" id="{5C54B1CB-8317-75CF-672B-D76E30A901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0430" y="0"/>
            <a:ext cx="3831140" cy="6858000"/>
          </a:xfrm>
          <a:prstGeom prst="rect">
            <a:avLst/>
          </a:prstGeom>
        </p:spPr>
      </p:pic>
      <p:pic>
        <p:nvPicPr>
          <p:cNvPr id="3" name="図 2">
            <a:extLst>
              <a:ext uri="{FF2B5EF4-FFF2-40B4-BE49-F238E27FC236}">
                <a16:creationId xmlns:a16="http://schemas.microsoft.com/office/drawing/2014/main" id="{26ABC4A5-AAC7-CD76-A31D-D713B8362A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4896" y="1899972"/>
            <a:ext cx="1917104" cy="3305352"/>
          </a:xfrm>
          <a:prstGeom prst="rect">
            <a:avLst/>
          </a:prstGeom>
        </p:spPr>
      </p:pic>
    </p:spTree>
    <p:extLst>
      <p:ext uri="{BB962C8B-B14F-4D97-AF65-F5344CB8AC3E}">
        <p14:creationId xmlns:p14="http://schemas.microsoft.com/office/powerpoint/2010/main" val="3444993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6FCF-2CCC-5792-6E95-AC02F7F3AF9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D29BBFE5-2DD6-2184-4905-5DE1C58057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42289"/>
            <a:ext cx="1915886" cy="3429566"/>
          </a:xfrm>
          <a:prstGeom prst="rect">
            <a:avLst/>
          </a:prstGeom>
        </p:spPr>
      </p:pic>
      <p:pic>
        <p:nvPicPr>
          <p:cNvPr id="8" name="図 7">
            <a:extLst>
              <a:ext uri="{FF2B5EF4-FFF2-40B4-BE49-F238E27FC236}">
                <a16:creationId xmlns:a16="http://schemas.microsoft.com/office/drawing/2014/main" id="{1A62B7C9-BA11-52CD-9700-060963D2DD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76113" y="1770927"/>
            <a:ext cx="1915887" cy="3400928"/>
          </a:xfrm>
          <a:prstGeom prst="rect">
            <a:avLst/>
          </a:prstGeom>
        </p:spPr>
      </p:pic>
      <p:pic>
        <p:nvPicPr>
          <p:cNvPr id="10" name="図 9">
            <a:extLst>
              <a:ext uri="{FF2B5EF4-FFF2-40B4-BE49-F238E27FC236}">
                <a16:creationId xmlns:a16="http://schemas.microsoft.com/office/drawing/2014/main" id="{30F0C91B-6F36-48FC-B8CF-727E286539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71514" y="0"/>
            <a:ext cx="3848971" cy="6858000"/>
          </a:xfrm>
          <a:prstGeom prst="rect">
            <a:avLst/>
          </a:prstGeom>
        </p:spPr>
      </p:pic>
    </p:spTree>
    <p:extLst>
      <p:ext uri="{BB962C8B-B14F-4D97-AF65-F5344CB8AC3E}">
        <p14:creationId xmlns:p14="http://schemas.microsoft.com/office/powerpoint/2010/main" val="3907155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B4A0B-5707-44D4-4727-AC4083519C37}"/>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F0C6F924-22A4-2AF6-A015-87E186CA5B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0712" y="0"/>
            <a:ext cx="3863402" cy="6858000"/>
          </a:xfrm>
          <a:prstGeom prst="rect">
            <a:avLst/>
          </a:prstGeom>
        </p:spPr>
      </p:pic>
      <p:pic>
        <p:nvPicPr>
          <p:cNvPr id="10" name="図 9">
            <a:extLst>
              <a:ext uri="{FF2B5EF4-FFF2-40B4-BE49-F238E27FC236}">
                <a16:creationId xmlns:a16="http://schemas.microsoft.com/office/drawing/2014/main" id="{F348A76B-C8A4-1EAA-8FAC-D6D9D9C636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08392"/>
            <a:ext cx="1926770" cy="3433071"/>
          </a:xfrm>
          <a:prstGeom prst="rect">
            <a:avLst/>
          </a:prstGeom>
        </p:spPr>
      </p:pic>
      <p:pic>
        <p:nvPicPr>
          <p:cNvPr id="3" name="図 2">
            <a:extLst>
              <a:ext uri="{FF2B5EF4-FFF2-40B4-BE49-F238E27FC236}">
                <a16:creationId xmlns:a16="http://schemas.microsoft.com/office/drawing/2014/main" id="{79F8CC3A-BFD0-00A5-66ED-9B6EDCF60E0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1662" y="1708392"/>
            <a:ext cx="1910338" cy="3433071"/>
          </a:xfrm>
          <a:prstGeom prst="rect">
            <a:avLst/>
          </a:prstGeom>
        </p:spPr>
      </p:pic>
    </p:spTree>
    <p:extLst>
      <p:ext uri="{BB962C8B-B14F-4D97-AF65-F5344CB8AC3E}">
        <p14:creationId xmlns:p14="http://schemas.microsoft.com/office/powerpoint/2010/main" val="1553444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28B91-1CCD-864A-1F6C-CE21AA88A02E}"/>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8891E5C1-2425-809E-89F8-C40C8DF4C5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15729"/>
            <a:ext cx="1930316" cy="3426541"/>
          </a:xfrm>
          <a:prstGeom prst="rect">
            <a:avLst/>
          </a:prstGeom>
        </p:spPr>
      </p:pic>
      <p:pic>
        <p:nvPicPr>
          <p:cNvPr id="3" name="図 2">
            <a:extLst>
              <a:ext uri="{FF2B5EF4-FFF2-40B4-BE49-F238E27FC236}">
                <a16:creationId xmlns:a16="http://schemas.microsoft.com/office/drawing/2014/main" id="{EE6EE79A-0617-5D56-0ADD-C78B15C3EB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99732" y="0"/>
            <a:ext cx="3816145" cy="6858000"/>
          </a:xfrm>
          <a:prstGeom prst="rect">
            <a:avLst/>
          </a:prstGeom>
        </p:spPr>
      </p:pic>
      <p:pic>
        <p:nvPicPr>
          <p:cNvPr id="4" name="図 3">
            <a:extLst>
              <a:ext uri="{FF2B5EF4-FFF2-40B4-BE49-F238E27FC236}">
                <a16:creationId xmlns:a16="http://schemas.microsoft.com/office/drawing/2014/main" id="{149CC16B-2E4E-18ED-5881-2DB6F39CAF9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5293" y="1732789"/>
            <a:ext cx="1892277" cy="3392419"/>
          </a:xfrm>
          <a:prstGeom prst="rect">
            <a:avLst/>
          </a:prstGeom>
        </p:spPr>
      </p:pic>
    </p:spTree>
    <p:extLst>
      <p:ext uri="{BB962C8B-B14F-4D97-AF65-F5344CB8AC3E}">
        <p14:creationId xmlns:p14="http://schemas.microsoft.com/office/powerpoint/2010/main" val="2178186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06C1A-AD7F-C563-9667-E32049A2951C}"/>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A45CA4D-0339-C73C-9A26-95D73AA57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05280"/>
            <a:ext cx="1908073" cy="3429000"/>
          </a:xfrm>
          <a:prstGeom prst="rect">
            <a:avLst/>
          </a:prstGeom>
        </p:spPr>
      </p:pic>
      <p:pic>
        <p:nvPicPr>
          <p:cNvPr id="4" name="図 3">
            <a:extLst>
              <a:ext uri="{FF2B5EF4-FFF2-40B4-BE49-F238E27FC236}">
                <a16:creationId xmlns:a16="http://schemas.microsoft.com/office/drawing/2014/main" id="{A9AE96DD-A16F-AED1-E822-499BA7850C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69199" y="0"/>
            <a:ext cx="3825363" cy="6858000"/>
          </a:xfrm>
          <a:prstGeom prst="rect">
            <a:avLst/>
          </a:prstGeom>
        </p:spPr>
      </p:pic>
      <p:pic>
        <p:nvPicPr>
          <p:cNvPr id="5" name="図 4">
            <a:extLst>
              <a:ext uri="{FF2B5EF4-FFF2-40B4-BE49-F238E27FC236}">
                <a16:creationId xmlns:a16="http://schemas.microsoft.com/office/drawing/2014/main" id="{F165271F-8C69-F3FE-4417-FB1D7189391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3641" y="1709890"/>
            <a:ext cx="1918359" cy="3438219"/>
          </a:xfrm>
          <a:prstGeom prst="rect">
            <a:avLst/>
          </a:prstGeom>
        </p:spPr>
      </p:pic>
    </p:spTree>
    <p:extLst>
      <p:ext uri="{BB962C8B-B14F-4D97-AF65-F5344CB8AC3E}">
        <p14:creationId xmlns:p14="http://schemas.microsoft.com/office/powerpoint/2010/main" val="227623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F7793-A168-392D-C6DA-20B99E9BC02D}"/>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F13FA669-1B6B-F6A6-F1F4-CA425C22F6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05881"/>
            <a:ext cx="1915886" cy="3434745"/>
          </a:xfrm>
          <a:prstGeom prst="rect">
            <a:avLst/>
          </a:prstGeom>
        </p:spPr>
      </p:pic>
      <p:pic>
        <p:nvPicPr>
          <p:cNvPr id="5" name="図 4">
            <a:extLst>
              <a:ext uri="{FF2B5EF4-FFF2-40B4-BE49-F238E27FC236}">
                <a16:creationId xmlns:a16="http://schemas.microsoft.com/office/drawing/2014/main" id="{855BB90F-5839-6A4F-E696-817EC6402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7393" y="0"/>
            <a:ext cx="3826431" cy="6858000"/>
          </a:xfrm>
          <a:prstGeom prst="rect">
            <a:avLst/>
          </a:prstGeom>
        </p:spPr>
      </p:pic>
      <p:pic>
        <p:nvPicPr>
          <p:cNvPr id="6" name="図 5">
            <a:extLst>
              <a:ext uri="{FF2B5EF4-FFF2-40B4-BE49-F238E27FC236}">
                <a16:creationId xmlns:a16="http://schemas.microsoft.com/office/drawing/2014/main" id="{05547362-7CD4-750E-6DFA-B223DD4535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88779" y="1705881"/>
            <a:ext cx="2003221" cy="3434746"/>
          </a:xfrm>
          <a:prstGeom prst="rect">
            <a:avLst/>
          </a:prstGeom>
        </p:spPr>
      </p:pic>
    </p:spTree>
    <p:extLst>
      <p:ext uri="{BB962C8B-B14F-4D97-AF65-F5344CB8AC3E}">
        <p14:creationId xmlns:p14="http://schemas.microsoft.com/office/powerpoint/2010/main" val="3162159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D4693-0011-6D2A-9812-66517C65D0CB}"/>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5128858E-A7C4-8A61-E704-36580543C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12107"/>
            <a:ext cx="1915886" cy="3433786"/>
          </a:xfrm>
          <a:prstGeom prst="rect">
            <a:avLst/>
          </a:prstGeom>
        </p:spPr>
      </p:pic>
      <p:pic>
        <p:nvPicPr>
          <p:cNvPr id="6" name="図 5">
            <a:extLst>
              <a:ext uri="{FF2B5EF4-FFF2-40B4-BE49-F238E27FC236}">
                <a16:creationId xmlns:a16="http://schemas.microsoft.com/office/drawing/2014/main" id="{6A8A95C0-82D6-C13E-F913-4253B05EA5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53070" y="0"/>
            <a:ext cx="3999739" cy="6858000"/>
          </a:xfrm>
          <a:prstGeom prst="rect">
            <a:avLst/>
          </a:prstGeom>
        </p:spPr>
      </p:pic>
    </p:spTree>
    <p:extLst>
      <p:ext uri="{BB962C8B-B14F-4D97-AF65-F5344CB8AC3E}">
        <p14:creationId xmlns:p14="http://schemas.microsoft.com/office/powerpoint/2010/main" val="2651533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737BA06-2FD5-63F1-0C61-42DEF78F83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93914"/>
            <a:ext cx="12192000" cy="6324600"/>
          </a:xfrm>
          <a:prstGeom prst="rect">
            <a:avLst/>
          </a:prstGeom>
        </p:spPr>
      </p:pic>
    </p:spTree>
    <p:extLst>
      <p:ext uri="{BB962C8B-B14F-4D97-AF65-F5344CB8AC3E}">
        <p14:creationId xmlns:p14="http://schemas.microsoft.com/office/powerpoint/2010/main" val="12769103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6EF27F1-D7B7-9828-4C23-6EB5F2734659}"/>
              </a:ext>
            </a:extLst>
          </p:cNvPr>
          <p:cNvSpPr txBox="1"/>
          <p:nvPr/>
        </p:nvSpPr>
        <p:spPr>
          <a:xfrm>
            <a:off x="2925901" y="2767280"/>
            <a:ext cx="6340197" cy="1323439"/>
          </a:xfrm>
          <a:prstGeom prst="rect">
            <a:avLst/>
          </a:prstGeom>
          <a:noFill/>
        </p:spPr>
        <p:txBody>
          <a:bodyPr wrap="none" rtlCol="0">
            <a:spAutoFit/>
          </a:bodyPr>
          <a:lstStyle/>
          <a:p>
            <a:r>
              <a:rPr kumimoji="1" lang="ja-JP" altLang="en-US" sz="8000" b="1" dirty="0">
                <a:latin typeface="HGS創英角ｺﾞｼｯｸUB" panose="020B0900000000000000" pitchFamily="50" charset="-128"/>
                <a:ea typeface="HGS創英角ｺﾞｼｯｸUB" panose="020B0900000000000000" pitchFamily="50" charset="-128"/>
              </a:rPr>
              <a:t>実際のアプリ</a:t>
            </a:r>
          </a:p>
        </p:txBody>
      </p:sp>
    </p:spTree>
    <p:extLst>
      <p:ext uri="{BB962C8B-B14F-4D97-AF65-F5344CB8AC3E}">
        <p14:creationId xmlns:p14="http://schemas.microsoft.com/office/powerpoint/2010/main" val="154125873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1FA4D5-CE1D-B241-3C55-E5A29DFDDE09}"/>
              </a:ext>
            </a:extLst>
          </p:cNvPr>
          <p:cNvSpPr>
            <a:spLocks noGrp="1"/>
          </p:cNvSpPr>
          <p:nvPr>
            <p:ph type="title"/>
          </p:nvPr>
        </p:nvSpPr>
        <p:spPr>
          <a:xfrm>
            <a:off x="3491719" y="685800"/>
            <a:ext cx="5208562" cy="1456267"/>
          </a:xfrm>
        </p:spPr>
        <p:txBody>
          <a:bodyPr>
            <a:normAutofit/>
          </a:bodyPr>
          <a:lstStyle/>
          <a:p>
            <a:r>
              <a:rPr lang="ja-JP" altLang="en-US" sz="4800" b="1" dirty="0">
                <a:latin typeface="HGS創英角ｺﾞｼｯｸUB" panose="020B0900000000000000" pitchFamily="50" charset="-128"/>
                <a:ea typeface="HGS創英角ｺﾞｼｯｸUB" panose="020B0900000000000000" pitchFamily="50" charset="-128"/>
              </a:rPr>
              <a:t>今後</a:t>
            </a:r>
            <a:r>
              <a:rPr lang="en-US" altLang="ja-JP" sz="4800" b="1" dirty="0">
                <a:latin typeface="HGS創英角ｺﾞｼｯｸUB" panose="020B0900000000000000" pitchFamily="50" charset="-128"/>
                <a:ea typeface="HGS創英角ｺﾞｼｯｸUB" panose="020B0900000000000000" pitchFamily="50" charset="-128"/>
              </a:rPr>
              <a:t>(</a:t>
            </a:r>
            <a:r>
              <a:rPr lang="ja-JP" altLang="en-US" sz="4800" b="1" dirty="0">
                <a:latin typeface="HGS創英角ｺﾞｼｯｸUB" panose="020B0900000000000000" pitchFamily="50" charset="-128"/>
                <a:ea typeface="HGS創英角ｺﾞｼｯｸUB" panose="020B0900000000000000" pitchFamily="50" charset="-128"/>
              </a:rPr>
              <a:t>現在</a:t>
            </a:r>
            <a:r>
              <a:rPr lang="en-US" altLang="ja-JP" sz="4800" b="1" dirty="0">
                <a:latin typeface="HGS創英角ｺﾞｼｯｸUB" panose="020B0900000000000000" pitchFamily="50" charset="-128"/>
                <a:ea typeface="HGS創英角ｺﾞｼｯｸUB" panose="020B0900000000000000" pitchFamily="50" charset="-128"/>
              </a:rPr>
              <a:t>)</a:t>
            </a:r>
            <a:r>
              <a:rPr lang="ja-JP" altLang="en-US" sz="4800" b="1" dirty="0">
                <a:latin typeface="HGS創英角ｺﾞｼｯｸUB" panose="020B0900000000000000" pitchFamily="50" charset="-128"/>
                <a:ea typeface="HGS創英角ｺﾞｼｯｸUB" panose="020B0900000000000000" pitchFamily="50" charset="-128"/>
              </a:rPr>
              <a:t>の</a:t>
            </a:r>
            <a:r>
              <a:rPr kumimoji="1" lang="ja-JP" altLang="en-US" sz="4800" b="1" dirty="0">
                <a:latin typeface="HGS創英角ｺﾞｼｯｸUB" panose="020B0900000000000000" pitchFamily="50" charset="-128"/>
                <a:ea typeface="HGS創英角ｺﾞｼｯｸUB" panose="020B0900000000000000" pitchFamily="50" charset="-128"/>
              </a:rPr>
              <a:t>作業</a:t>
            </a:r>
          </a:p>
        </p:txBody>
      </p:sp>
      <p:sp>
        <p:nvSpPr>
          <p:cNvPr id="3" name="コンテンツ プレースホルダー 2">
            <a:extLst>
              <a:ext uri="{FF2B5EF4-FFF2-40B4-BE49-F238E27FC236}">
                <a16:creationId xmlns:a16="http://schemas.microsoft.com/office/drawing/2014/main" id="{C5E02E1F-2A7A-0742-44F0-65E2904AA42C}"/>
              </a:ext>
            </a:extLst>
          </p:cNvPr>
          <p:cNvSpPr>
            <a:spLocks noGrp="1"/>
          </p:cNvSpPr>
          <p:nvPr>
            <p:ph idx="1"/>
          </p:nvPr>
        </p:nvSpPr>
        <p:spPr>
          <a:xfrm>
            <a:off x="1838765" y="2142067"/>
            <a:ext cx="8514470" cy="3649133"/>
          </a:xfrm>
        </p:spPr>
        <p:txBody>
          <a:bodyPr>
            <a:normAutofit/>
          </a:bodyPr>
          <a:lstStyle/>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・パスワード閲覧時に </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PIN/</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生体認証を挟み</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　セキュリティ強化</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PIN</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認証の入力回数制限</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・パスワードを忘れた際の対処法</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a:t>
            </a:r>
            <a:r>
              <a:rPr lang="en-US" altLang="ja-JP" sz="3600" b="1" dirty="0" err="1">
                <a:solidFill>
                  <a:schemeClr val="tx1"/>
                </a:solidFill>
                <a:latin typeface="HGP創英角ﾎﾟｯﾌﾟ体" panose="040B0A00000000000000" pitchFamily="50" charset="-128"/>
                <a:ea typeface="HGP創英角ﾎﾟｯﾌﾟ体" panose="040B0A00000000000000" pitchFamily="50" charset="-128"/>
              </a:rPr>
              <a:t>ios</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での実装</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256161018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1000"/>
                                        <p:tgtEl>
                                          <p:spTgt spid="3">
                                            <p:txEl>
                                              <p:pRg st="1" end="1"/>
                                            </p:txEl>
                                          </p:spTgt>
                                        </p:tgtEl>
                                      </p:cBhvr>
                                    </p:animEffect>
                                    <p:anim calcmode="lin" valueType="num">
                                      <p:cBhvr>
                                        <p:cTn id="1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fade">
                                      <p:cBhvr>
                                        <p:cTn id="24" dur="1000"/>
                                        <p:tgtEl>
                                          <p:spTgt spid="3">
                                            <p:txEl>
                                              <p:pRg st="2" end="2"/>
                                            </p:txEl>
                                          </p:spTgt>
                                        </p:tgtEl>
                                      </p:cBhvr>
                                    </p:animEffect>
                                    <p:anim calcmode="lin" valueType="num">
                                      <p:cBhvr>
                                        <p:cTn id="2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1000"/>
                                        <p:tgtEl>
                                          <p:spTgt spid="3">
                                            <p:txEl>
                                              <p:pRg st="3" end="3"/>
                                            </p:txEl>
                                          </p:spTgt>
                                        </p:tgtEl>
                                      </p:cBhvr>
                                    </p:animEffect>
                                    <p:anim calcmode="lin" valueType="num">
                                      <p:cBhvr>
                                        <p:cTn id="3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nodeType="clickEffect">
                                  <p:stCondLst>
                                    <p:cond delay="0"/>
                                  </p:stCondLst>
                                  <p:childTnLst>
                                    <p:set>
                                      <p:cBhvr>
                                        <p:cTn id="37" dur="1" fill="hold">
                                          <p:stCondLst>
                                            <p:cond delay="0"/>
                                          </p:stCondLst>
                                        </p:cTn>
                                        <p:tgtEl>
                                          <p:spTgt spid="3">
                                            <p:txEl>
                                              <p:pRg st="4" end="4"/>
                                            </p:txEl>
                                          </p:spTgt>
                                        </p:tgtEl>
                                        <p:attrNameLst>
                                          <p:attrName>style.visibility</p:attrName>
                                        </p:attrNameLst>
                                      </p:cBhvr>
                                      <p:to>
                                        <p:strVal val="visible"/>
                                      </p:to>
                                    </p:set>
                                    <p:animEffect transition="in" filter="fade">
                                      <p:cBhvr>
                                        <p:cTn id="38" dur="1000"/>
                                        <p:tgtEl>
                                          <p:spTgt spid="3">
                                            <p:txEl>
                                              <p:pRg st="4" end="4"/>
                                            </p:txEl>
                                          </p:spTgt>
                                        </p:tgtEl>
                                      </p:cBhvr>
                                    </p:animEffect>
                                    <p:anim calcmode="lin" valueType="num">
                                      <p:cBhvr>
                                        <p:cTn id="3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602AF9-A2E0-EE37-8038-4DC090C9E551}"/>
              </a:ext>
            </a:extLst>
          </p:cNvPr>
          <p:cNvSpPr txBox="1"/>
          <p:nvPr/>
        </p:nvSpPr>
        <p:spPr>
          <a:xfrm>
            <a:off x="-2787" y="2828835"/>
            <a:ext cx="1111202"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あ</a:t>
            </a:r>
          </a:p>
        </p:txBody>
      </p:sp>
      <p:sp>
        <p:nvSpPr>
          <p:cNvPr id="5" name="テキスト ボックス 4">
            <a:extLst>
              <a:ext uri="{FF2B5EF4-FFF2-40B4-BE49-F238E27FC236}">
                <a16:creationId xmlns:a16="http://schemas.microsoft.com/office/drawing/2014/main" id="{B1C86698-96D9-4E64-8BDC-C75D45D530A4}"/>
              </a:ext>
            </a:extLst>
          </p:cNvPr>
          <p:cNvSpPr txBox="1"/>
          <p:nvPr/>
        </p:nvSpPr>
        <p:spPr>
          <a:xfrm>
            <a:off x="1108415" y="2828834"/>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り</a:t>
            </a:r>
          </a:p>
        </p:txBody>
      </p:sp>
      <p:sp>
        <p:nvSpPr>
          <p:cNvPr id="6" name="テキスト ボックス 5">
            <a:extLst>
              <a:ext uri="{FF2B5EF4-FFF2-40B4-BE49-F238E27FC236}">
                <a16:creationId xmlns:a16="http://schemas.microsoft.com/office/drawing/2014/main" id="{A86C384F-6BC1-6DF9-236A-8E7C11956E2C}"/>
              </a:ext>
            </a:extLst>
          </p:cNvPr>
          <p:cNvSpPr txBox="1"/>
          <p:nvPr/>
        </p:nvSpPr>
        <p:spPr>
          <a:xfrm>
            <a:off x="2216411" y="2828833"/>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が</a:t>
            </a:r>
          </a:p>
        </p:txBody>
      </p:sp>
      <p:sp>
        <p:nvSpPr>
          <p:cNvPr id="7" name="テキスト ボックス 6">
            <a:extLst>
              <a:ext uri="{FF2B5EF4-FFF2-40B4-BE49-F238E27FC236}">
                <a16:creationId xmlns:a16="http://schemas.microsoft.com/office/drawing/2014/main" id="{91B52602-F6A6-190D-8FB2-6D26FA3EEB2D}"/>
              </a:ext>
            </a:extLst>
          </p:cNvPr>
          <p:cNvSpPr txBox="1"/>
          <p:nvPr/>
        </p:nvSpPr>
        <p:spPr>
          <a:xfrm>
            <a:off x="3322804" y="2830372"/>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と</a:t>
            </a:r>
          </a:p>
        </p:txBody>
      </p:sp>
      <p:sp>
        <p:nvSpPr>
          <p:cNvPr id="8" name="テキスト ボックス 7">
            <a:extLst>
              <a:ext uri="{FF2B5EF4-FFF2-40B4-BE49-F238E27FC236}">
                <a16:creationId xmlns:a16="http://schemas.microsoft.com/office/drawing/2014/main" id="{5CB7165F-0462-8141-CE8E-D7D0415FAAA6}"/>
              </a:ext>
            </a:extLst>
          </p:cNvPr>
          <p:cNvSpPr txBox="1"/>
          <p:nvPr/>
        </p:nvSpPr>
        <p:spPr>
          <a:xfrm>
            <a:off x="4429197" y="2830060"/>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う</a:t>
            </a:r>
          </a:p>
        </p:txBody>
      </p:sp>
      <p:sp>
        <p:nvSpPr>
          <p:cNvPr id="9" name="テキスト ボックス 8">
            <a:extLst>
              <a:ext uri="{FF2B5EF4-FFF2-40B4-BE49-F238E27FC236}">
                <a16:creationId xmlns:a16="http://schemas.microsoft.com/office/drawing/2014/main" id="{856E4BCD-668F-D808-BCD7-194653AD5A0C}"/>
              </a:ext>
            </a:extLst>
          </p:cNvPr>
          <p:cNvSpPr txBox="1"/>
          <p:nvPr/>
        </p:nvSpPr>
        <p:spPr>
          <a:xfrm>
            <a:off x="5533987" y="2828832"/>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ご</a:t>
            </a:r>
          </a:p>
        </p:txBody>
      </p:sp>
      <p:sp>
        <p:nvSpPr>
          <p:cNvPr id="10" name="テキスト ボックス 9">
            <a:extLst>
              <a:ext uri="{FF2B5EF4-FFF2-40B4-BE49-F238E27FC236}">
                <a16:creationId xmlns:a16="http://schemas.microsoft.com/office/drawing/2014/main" id="{0A4B444B-FE41-851A-66B4-B42CD77E3363}"/>
              </a:ext>
            </a:extLst>
          </p:cNvPr>
          <p:cNvSpPr txBox="1"/>
          <p:nvPr/>
        </p:nvSpPr>
        <p:spPr>
          <a:xfrm>
            <a:off x="6653206" y="2828831"/>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ざ</a:t>
            </a:r>
          </a:p>
        </p:txBody>
      </p:sp>
      <p:sp>
        <p:nvSpPr>
          <p:cNvPr id="11" name="テキスト ボックス 10">
            <a:extLst>
              <a:ext uri="{FF2B5EF4-FFF2-40B4-BE49-F238E27FC236}">
                <a16:creationId xmlns:a16="http://schemas.microsoft.com/office/drawing/2014/main" id="{55CCB344-96B4-87AC-6099-9E8C695DF6E3}"/>
              </a:ext>
            </a:extLst>
          </p:cNvPr>
          <p:cNvSpPr txBox="1"/>
          <p:nvPr/>
        </p:nvSpPr>
        <p:spPr>
          <a:xfrm>
            <a:off x="7772425" y="2828830"/>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い</a:t>
            </a:r>
          </a:p>
        </p:txBody>
      </p:sp>
      <p:sp>
        <p:nvSpPr>
          <p:cNvPr id="12" name="テキスト ボックス 11">
            <a:extLst>
              <a:ext uri="{FF2B5EF4-FFF2-40B4-BE49-F238E27FC236}">
                <a16:creationId xmlns:a16="http://schemas.microsoft.com/office/drawing/2014/main" id="{B0874A65-E439-5F01-4A9F-B7B589A007AA}"/>
              </a:ext>
            </a:extLst>
          </p:cNvPr>
          <p:cNvSpPr txBox="1"/>
          <p:nvPr/>
        </p:nvSpPr>
        <p:spPr>
          <a:xfrm>
            <a:off x="8864389" y="2828829"/>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ま</a:t>
            </a:r>
          </a:p>
        </p:txBody>
      </p:sp>
      <p:sp>
        <p:nvSpPr>
          <p:cNvPr id="13" name="テキスト ボックス 12">
            <a:extLst>
              <a:ext uri="{FF2B5EF4-FFF2-40B4-BE49-F238E27FC236}">
                <a16:creationId xmlns:a16="http://schemas.microsoft.com/office/drawing/2014/main" id="{B486E386-D414-DFF1-90A8-E7513D8D3796}"/>
              </a:ext>
            </a:extLst>
          </p:cNvPr>
          <p:cNvSpPr txBox="1"/>
          <p:nvPr/>
        </p:nvSpPr>
        <p:spPr>
          <a:xfrm>
            <a:off x="9973986" y="2828829"/>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し</a:t>
            </a:r>
          </a:p>
        </p:txBody>
      </p:sp>
      <p:sp>
        <p:nvSpPr>
          <p:cNvPr id="14" name="テキスト ボックス 13">
            <a:extLst>
              <a:ext uri="{FF2B5EF4-FFF2-40B4-BE49-F238E27FC236}">
                <a16:creationId xmlns:a16="http://schemas.microsoft.com/office/drawing/2014/main" id="{878312EC-D745-DC89-2435-39ABB6DEB252}"/>
              </a:ext>
            </a:extLst>
          </p:cNvPr>
          <p:cNvSpPr txBox="1"/>
          <p:nvPr/>
        </p:nvSpPr>
        <p:spPr>
          <a:xfrm>
            <a:off x="11114050" y="2828828"/>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た</a:t>
            </a:r>
          </a:p>
        </p:txBody>
      </p:sp>
    </p:spTree>
    <p:extLst>
      <p:ext uri="{BB962C8B-B14F-4D97-AF65-F5344CB8AC3E}">
        <p14:creationId xmlns:p14="http://schemas.microsoft.com/office/powerpoint/2010/main" val="1509028072"/>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4" presetClass="emph" presetSubtype="0" fill="hold" grpId="0" nodeType="afterEffect">
                                  <p:stCondLst>
                                    <p:cond delay="0"/>
                                  </p:stCondLst>
                                  <p:iterate type="lt">
                                    <p:tmPct val="10000"/>
                                  </p:iterate>
                                  <p:childTnLst>
                                    <p:animMotion origin="layout" path="M -2.5E-6 0 L -2.5E-6 -0.07222 " pathEditMode="relative" rAng="0" ptsTypes="AA">
                                      <p:cBhvr>
                                        <p:cTn id="6" dur="250" accel="50000" decel="50000" autoRev="1" fill="hold">
                                          <p:stCondLst>
                                            <p:cond delay="0"/>
                                          </p:stCondLst>
                                        </p:cTn>
                                        <p:tgtEl>
                                          <p:spTgt spid="4"/>
                                        </p:tgtEl>
                                        <p:attrNameLst>
                                          <p:attrName>ppt_x</p:attrName>
                                          <p:attrName>ppt_y</p:attrName>
                                        </p:attrNameLst>
                                      </p:cBhvr>
                                      <p:rCtr x="0" y="-3611"/>
                                    </p:animMotion>
                                    <p:animRot by="1500000">
                                      <p:cBhvr>
                                        <p:cTn id="7" dur="125" fill="hold">
                                          <p:stCondLst>
                                            <p:cond delay="0"/>
                                          </p:stCondLst>
                                        </p:cTn>
                                        <p:tgtEl>
                                          <p:spTgt spid="4"/>
                                        </p:tgtEl>
                                        <p:attrNameLst>
                                          <p:attrName>r</p:attrName>
                                        </p:attrNameLst>
                                      </p:cBhvr>
                                    </p:animRot>
                                    <p:animRot by="-1500000">
                                      <p:cBhvr>
                                        <p:cTn id="8" dur="125" fill="hold">
                                          <p:stCondLst>
                                            <p:cond delay="125"/>
                                          </p:stCondLst>
                                        </p:cTn>
                                        <p:tgtEl>
                                          <p:spTgt spid="4"/>
                                        </p:tgtEl>
                                        <p:attrNameLst>
                                          <p:attrName>r</p:attrName>
                                        </p:attrNameLst>
                                      </p:cBhvr>
                                    </p:animRot>
                                    <p:animRot by="-1500000">
                                      <p:cBhvr>
                                        <p:cTn id="9" dur="125" fill="hold">
                                          <p:stCondLst>
                                            <p:cond delay="250"/>
                                          </p:stCondLst>
                                        </p:cTn>
                                        <p:tgtEl>
                                          <p:spTgt spid="4"/>
                                        </p:tgtEl>
                                        <p:attrNameLst>
                                          <p:attrName>r</p:attrName>
                                        </p:attrNameLst>
                                      </p:cBhvr>
                                    </p:animRot>
                                    <p:animRot by="1500000">
                                      <p:cBhvr>
                                        <p:cTn id="10" dur="125" fill="hold">
                                          <p:stCondLst>
                                            <p:cond delay="375"/>
                                          </p:stCondLst>
                                        </p:cTn>
                                        <p:tgtEl>
                                          <p:spTgt spid="4"/>
                                        </p:tgtEl>
                                        <p:attrNameLst>
                                          <p:attrName>r</p:attrName>
                                        </p:attrNameLst>
                                      </p:cBhvr>
                                    </p:animRot>
                                  </p:childTnLst>
                                </p:cTn>
                              </p:par>
                              <p:par>
                                <p:cTn id="11" presetID="34" presetClass="emph" presetSubtype="0" fill="hold" nodeType="withEffect">
                                  <p:stCondLst>
                                    <p:cond delay="100"/>
                                  </p:stCondLst>
                                  <p:iterate type="lt">
                                    <p:tmPct val="10000"/>
                                  </p:iterate>
                                  <p:childTnLst>
                                    <p:animMotion origin="layout" path="M 2.08333E-6 -4.07407E-6 L 2.08333E-6 -0.07222 " pathEditMode="relative" rAng="0" ptsTypes="AA">
                                      <p:cBhvr>
                                        <p:cTn id="12" dur="250" accel="50000" decel="50000" autoRev="1" fill="hold">
                                          <p:stCondLst>
                                            <p:cond delay="0"/>
                                          </p:stCondLst>
                                        </p:cTn>
                                        <p:tgtEl>
                                          <p:spTgt spid="5">
                                            <p:txEl>
                                              <p:pRg st="0" end="0"/>
                                            </p:txEl>
                                          </p:spTgt>
                                        </p:tgtEl>
                                        <p:attrNameLst>
                                          <p:attrName>ppt_x</p:attrName>
                                          <p:attrName>ppt_y</p:attrName>
                                        </p:attrNameLst>
                                      </p:cBhvr>
                                      <p:rCtr x="0" y="-3611"/>
                                    </p:animMotion>
                                    <p:animRot by="1500000">
                                      <p:cBhvr>
                                        <p:cTn id="13" dur="125" fill="hold">
                                          <p:stCondLst>
                                            <p:cond delay="0"/>
                                          </p:stCondLst>
                                        </p:cTn>
                                        <p:tgtEl>
                                          <p:spTgt spid="5">
                                            <p:txEl>
                                              <p:pRg st="0" end="0"/>
                                            </p:txEl>
                                          </p:spTgt>
                                        </p:tgtEl>
                                        <p:attrNameLst>
                                          <p:attrName>r</p:attrName>
                                        </p:attrNameLst>
                                      </p:cBhvr>
                                    </p:animRot>
                                    <p:animRot by="-1500000">
                                      <p:cBhvr>
                                        <p:cTn id="14" dur="125" fill="hold">
                                          <p:stCondLst>
                                            <p:cond delay="125"/>
                                          </p:stCondLst>
                                        </p:cTn>
                                        <p:tgtEl>
                                          <p:spTgt spid="5">
                                            <p:txEl>
                                              <p:pRg st="0" end="0"/>
                                            </p:txEl>
                                          </p:spTgt>
                                        </p:tgtEl>
                                        <p:attrNameLst>
                                          <p:attrName>r</p:attrName>
                                        </p:attrNameLst>
                                      </p:cBhvr>
                                    </p:animRot>
                                    <p:animRot by="-1500000">
                                      <p:cBhvr>
                                        <p:cTn id="15" dur="125" fill="hold">
                                          <p:stCondLst>
                                            <p:cond delay="250"/>
                                          </p:stCondLst>
                                        </p:cTn>
                                        <p:tgtEl>
                                          <p:spTgt spid="5">
                                            <p:txEl>
                                              <p:pRg st="0" end="0"/>
                                            </p:txEl>
                                          </p:spTgt>
                                        </p:tgtEl>
                                        <p:attrNameLst>
                                          <p:attrName>r</p:attrName>
                                        </p:attrNameLst>
                                      </p:cBhvr>
                                    </p:animRot>
                                    <p:animRot by="1500000">
                                      <p:cBhvr>
                                        <p:cTn id="16" dur="125" fill="hold">
                                          <p:stCondLst>
                                            <p:cond delay="375"/>
                                          </p:stCondLst>
                                        </p:cTn>
                                        <p:tgtEl>
                                          <p:spTgt spid="5">
                                            <p:txEl>
                                              <p:pRg st="0" end="0"/>
                                            </p:txEl>
                                          </p:spTgt>
                                        </p:tgtEl>
                                        <p:attrNameLst>
                                          <p:attrName>r</p:attrName>
                                        </p:attrNameLst>
                                      </p:cBhvr>
                                    </p:animRot>
                                  </p:childTnLst>
                                </p:cTn>
                              </p:par>
                              <p:par>
                                <p:cTn id="17" presetID="34" presetClass="emph" presetSubtype="0" fill="hold" nodeType="withEffect">
                                  <p:stCondLst>
                                    <p:cond delay="200"/>
                                  </p:stCondLst>
                                  <p:iterate type="lt">
                                    <p:tmPct val="10000"/>
                                  </p:iterate>
                                  <p:childTnLst>
                                    <p:animMotion origin="layout" path="M -3.33333E-6 -4.07407E-6 L -3.33333E-6 -0.07222 " pathEditMode="relative" rAng="0" ptsTypes="AA">
                                      <p:cBhvr>
                                        <p:cTn id="18" dur="250" accel="50000" decel="50000" autoRev="1" fill="hold">
                                          <p:stCondLst>
                                            <p:cond delay="0"/>
                                          </p:stCondLst>
                                        </p:cTn>
                                        <p:tgtEl>
                                          <p:spTgt spid="6">
                                            <p:txEl>
                                              <p:pRg st="0" end="0"/>
                                            </p:txEl>
                                          </p:spTgt>
                                        </p:tgtEl>
                                        <p:attrNameLst>
                                          <p:attrName>ppt_x</p:attrName>
                                          <p:attrName>ppt_y</p:attrName>
                                        </p:attrNameLst>
                                      </p:cBhvr>
                                      <p:rCtr x="0" y="-3611"/>
                                    </p:animMotion>
                                    <p:animRot by="1500000">
                                      <p:cBhvr>
                                        <p:cTn id="19" dur="125" fill="hold">
                                          <p:stCondLst>
                                            <p:cond delay="0"/>
                                          </p:stCondLst>
                                        </p:cTn>
                                        <p:tgtEl>
                                          <p:spTgt spid="6">
                                            <p:txEl>
                                              <p:pRg st="0" end="0"/>
                                            </p:txEl>
                                          </p:spTgt>
                                        </p:tgtEl>
                                        <p:attrNameLst>
                                          <p:attrName>r</p:attrName>
                                        </p:attrNameLst>
                                      </p:cBhvr>
                                    </p:animRot>
                                    <p:animRot by="-1500000">
                                      <p:cBhvr>
                                        <p:cTn id="20" dur="125" fill="hold">
                                          <p:stCondLst>
                                            <p:cond delay="125"/>
                                          </p:stCondLst>
                                        </p:cTn>
                                        <p:tgtEl>
                                          <p:spTgt spid="6">
                                            <p:txEl>
                                              <p:pRg st="0" end="0"/>
                                            </p:txEl>
                                          </p:spTgt>
                                        </p:tgtEl>
                                        <p:attrNameLst>
                                          <p:attrName>r</p:attrName>
                                        </p:attrNameLst>
                                      </p:cBhvr>
                                    </p:animRot>
                                    <p:animRot by="-1500000">
                                      <p:cBhvr>
                                        <p:cTn id="21" dur="125" fill="hold">
                                          <p:stCondLst>
                                            <p:cond delay="250"/>
                                          </p:stCondLst>
                                        </p:cTn>
                                        <p:tgtEl>
                                          <p:spTgt spid="6">
                                            <p:txEl>
                                              <p:pRg st="0" end="0"/>
                                            </p:txEl>
                                          </p:spTgt>
                                        </p:tgtEl>
                                        <p:attrNameLst>
                                          <p:attrName>r</p:attrName>
                                        </p:attrNameLst>
                                      </p:cBhvr>
                                    </p:animRot>
                                    <p:animRot by="1500000">
                                      <p:cBhvr>
                                        <p:cTn id="22" dur="125" fill="hold">
                                          <p:stCondLst>
                                            <p:cond delay="375"/>
                                          </p:stCondLst>
                                        </p:cTn>
                                        <p:tgtEl>
                                          <p:spTgt spid="6">
                                            <p:txEl>
                                              <p:pRg st="0" end="0"/>
                                            </p:txEl>
                                          </p:spTgt>
                                        </p:tgtEl>
                                        <p:attrNameLst>
                                          <p:attrName>r</p:attrName>
                                        </p:attrNameLst>
                                      </p:cBhvr>
                                    </p:animRot>
                                  </p:childTnLst>
                                </p:cTn>
                              </p:par>
                              <p:par>
                                <p:cTn id="23" presetID="34" presetClass="emph" presetSubtype="0" fill="hold" grpId="0" nodeType="withEffect">
                                  <p:stCondLst>
                                    <p:cond delay="300"/>
                                  </p:stCondLst>
                                  <p:iterate type="lt">
                                    <p:tmPct val="10000"/>
                                  </p:iterate>
                                  <p:childTnLst>
                                    <p:animMotion origin="layout" path="M 1.45833E-6 4.44444E-6 L 1.45833E-6 -0.07223 " pathEditMode="relative" rAng="0" ptsTypes="AA">
                                      <p:cBhvr>
                                        <p:cTn id="24" dur="250" accel="50000" decel="50000" autoRev="1" fill="hold">
                                          <p:stCondLst>
                                            <p:cond delay="0"/>
                                          </p:stCondLst>
                                        </p:cTn>
                                        <p:tgtEl>
                                          <p:spTgt spid="7">
                                            <p:txEl>
                                              <p:pRg st="0" end="0"/>
                                            </p:txEl>
                                          </p:spTgt>
                                        </p:tgtEl>
                                        <p:attrNameLst>
                                          <p:attrName>ppt_x</p:attrName>
                                          <p:attrName>ppt_y</p:attrName>
                                        </p:attrNameLst>
                                      </p:cBhvr>
                                      <p:rCtr x="0" y="-3611"/>
                                    </p:animMotion>
                                    <p:animRot by="1500000">
                                      <p:cBhvr>
                                        <p:cTn id="25" dur="125" fill="hold">
                                          <p:stCondLst>
                                            <p:cond delay="0"/>
                                          </p:stCondLst>
                                        </p:cTn>
                                        <p:tgtEl>
                                          <p:spTgt spid="7">
                                            <p:txEl>
                                              <p:pRg st="0" end="0"/>
                                            </p:txEl>
                                          </p:spTgt>
                                        </p:tgtEl>
                                        <p:attrNameLst>
                                          <p:attrName>r</p:attrName>
                                        </p:attrNameLst>
                                      </p:cBhvr>
                                    </p:animRot>
                                    <p:animRot by="-1500000">
                                      <p:cBhvr>
                                        <p:cTn id="26" dur="125" fill="hold">
                                          <p:stCondLst>
                                            <p:cond delay="125"/>
                                          </p:stCondLst>
                                        </p:cTn>
                                        <p:tgtEl>
                                          <p:spTgt spid="7">
                                            <p:txEl>
                                              <p:pRg st="0" end="0"/>
                                            </p:txEl>
                                          </p:spTgt>
                                        </p:tgtEl>
                                        <p:attrNameLst>
                                          <p:attrName>r</p:attrName>
                                        </p:attrNameLst>
                                      </p:cBhvr>
                                    </p:animRot>
                                    <p:animRot by="-1500000">
                                      <p:cBhvr>
                                        <p:cTn id="27" dur="125" fill="hold">
                                          <p:stCondLst>
                                            <p:cond delay="250"/>
                                          </p:stCondLst>
                                        </p:cTn>
                                        <p:tgtEl>
                                          <p:spTgt spid="7">
                                            <p:txEl>
                                              <p:pRg st="0" end="0"/>
                                            </p:txEl>
                                          </p:spTgt>
                                        </p:tgtEl>
                                        <p:attrNameLst>
                                          <p:attrName>r</p:attrName>
                                        </p:attrNameLst>
                                      </p:cBhvr>
                                    </p:animRot>
                                    <p:animRot by="1500000">
                                      <p:cBhvr>
                                        <p:cTn id="28" dur="125" fill="hold">
                                          <p:stCondLst>
                                            <p:cond delay="375"/>
                                          </p:stCondLst>
                                        </p:cTn>
                                        <p:tgtEl>
                                          <p:spTgt spid="7">
                                            <p:txEl>
                                              <p:pRg st="0" end="0"/>
                                            </p:txEl>
                                          </p:spTgt>
                                        </p:tgtEl>
                                        <p:attrNameLst>
                                          <p:attrName>r</p:attrName>
                                        </p:attrNameLst>
                                      </p:cBhvr>
                                    </p:animRot>
                                  </p:childTnLst>
                                </p:cTn>
                              </p:par>
                              <p:par>
                                <p:cTn id="29" presetID="34" presetClass="emph" presetSubtype="0" fill="hold" nodeType="withEffect">
                                  <p:stCondLst>
                                    <p:cond delay="400"/>
                                  </p:stCondLst>
                                  <p:iterate type="lt">
                                    <p:tmPct val="10000"/>
                                  </p:iterate>
                                  <p:childTnLst>
                                    <p:animMotion origin="layout" path="M -3.75E-6 4.44444E-6 L -3.75E-6 -0.07223 " pathEditMode="relative" rAng="0" ptsTypes="AA">
                                      <p:cBhvr>
                                        <p:cTn id="30" dur="250" accel="50000" decel="50000" autoRev="1" fill="hold">
                                          <p:stCondLst>
                                            <p:cond delay="0"/>
                                          </p:stCondLst>
                                        </p:cTn>
                                        <p:tgtEl>
                                          <p:spTgt spid="8">
                                            <p:txEl>
                                              <p:pRg st="0" end="0"/>
                                            </p:txEl>
                                          </p:spTgt>
                                        </p:tgtEl>
                                        <p:attrNameLst>
                                          <p:attrName>ppt_x</p:attrName>
                                          <p:attrName>ppt_y</p:attrName>
                                        </p:attrNameLst>
                                      </p:cBhvr>
                                      <p:rCtr x="0" y="-3611"/>
                                    </p:animMotion>
                                    <p:animRot by="1500000">
                                      <p:cBhvr>
                                        <p:cTn id="31" dur="125" fill="hold">
                                          <p:stCondLst>
                                            <p:cond delay="0"/>
                                          </p:stCondLst>
                                        </p:cTn>
                                        <p:tgtEl>
                                          <p:spTgt spid="8">
                                            <p:txEl>
                                              <p:pRg st="0" end="0"/>
                                            </p:txEl>
                                          </p:spTgt>
                                        </p:tgtEl>
                                        <p:attrNameLst>
                                          <p:attrName>r</p:attrName>
                                        </p:attrNameLst>
                                      </p:cBhvr>
                                    </p:animRot>
                                    <p:animRot by="-1500000">
                                      <p:cBhvr>
                                        <p:cTn id="32" dur="125" fill="hold">
                                          <p:stCondLst>
                                            <p:cond delay="125"/>
                                          </p:stCondLst>
                                        </p:cTn>
                                        <p:tgtEl>
                                          <p:spTgt spid="8">
                                            <p:txEl>
                                              <p:pRg st="0" end="0"/>
                                            </p:txEl>
                                          </p:spTgt>
                                        </p:tgtEl>
                                        <p:attrNameLst>
                                          <p:attrName>r</p:attrName>
                                        </p:attrNameLst>
                                      </p:cBhvr>
                                    </p:animRot>
                                    <p:animRot by="-1500000">
                                      <p:cBhvr>
                                        <p:cTn id="33" dur="125" fill="hold">
                                          <p:stCondLst>
                                            <p:cond delay="250"/>
                                          </p:stCondLst>
                                        </p:cTn>
                                        <p:tgtEl>
                                          <p:spTgt spid="8">
                                            <p:txEl>
                                              <p:pRg st="0" end="0"/>
                                            </p:txEl>
                                          </p:spTgt>
                                        </p:tgtEl>
                                        <p:attrNameLst>
                                          <p:attrName>r</p:attrName>
                                        </p:attrNameLst>
                                      </p:cBhvr>
                                    </p:animRot>
                                    <p:animRot by="1500000">
                                      <p:cBhvr>
                                        <p:cTn id="34" dur="125" fill="hold">
                                          <p:stCondLst>
                                            <p:cond delay="375"/>
                                          </p:stCondLst>
                                        </p:cTn>
                                        <p:tgtEl>
                                          <p:spTgt spid="8">
                                            <p:txEl>
                                              <p:pRg st="0" end="0"/>
                                            </p:txEl>
                                          </p:spTgt>
                                        </p:tgtEl>
                                        <p:attrNameLst>
                                          <p:attrName>r</p:attrName>
                                        </p:attrNameLst>
                                      </p:cBhvr>
                                    </p:animRot>
                                  </p:childTnLst>
                                </p:cTn>
                              </p:par>
                              <p:par>
                                <p:cTn id="35" presetID="34" presetClass="emph" presetSubtype="0" fill="hold" nodeType="withEffect">
                                  <p:stCondLst>
                                    <p:cond delay="500"/>
                                  </p:stCondLst>
                                  <p:iterate type="lt">
                                    <p:tmPct val="10000"/>
                                  </p:iterate>
                                  <p:childTnLst>
                                    <p:animMotion origin="layout" path="M 1.25E-6 -4.07407E-6 L 1.25E-6 -0.07222 " pathEditMode="relative" rAng="0" ptsTypes="AA">
                                      <p:cBhvr>
                                        <p:cTn id="36" dur="250" accel="50000" decel="50000" autoRev="1" fill="hold">
                                          <p:stCondLst>
                                            <p:cond delay="0"/>
                                          </p:stCondLst>
                                        </p:cTn>
                                        <p:tgtEl>
                                          <p:spTgt spid="9">
                                            <p:txEl>
                                              <p:pRg st="0" end="0"/>
                                            </p:txEl>
                                          </p:spTgt>
                                        </p:tgtEl>
                                        <p:attrNameLst>
                                          <p:attrName>ppt_x</p:attrName>
                                          <p:attrName>ppt_y</p:attrName>
                                        </p:attrNameLst>
                                      </p:cBhvr>
                                      <p:rCtr x="0" y="-3611"/>
                                    </p:animMotion>
                                    <p:animRot by="1500000">
                                      <p:cBhvr>
                                        <p:cTn id="37" dur="125" fill="hold">
                                          <p:stCondLst>
                                            <p:cond delay="0"/>
                                          </p:stCondLst>
                                        </p:cTn>
                                        <p:tgtEl>
                                          <p:spTgt spid="9">
                                            <p:txEl>
                                              <p:pRg st="0" end="0"/>
                                            </p:txEl>
                                          </p:spTgt>
                                        </p:tgtEl>
                                        <p:attrNameLst>
                                          <p:attrName>r</p:attrName>
                                        </p:attrNameLst>
                                      </p:cBhvr>
                                    </p:animRot>
                                    <p:animRot by="-1500000">
                                      <p:cBhvr>
                                        <p:cTn id="38" dur="125" fill="hold">
                                          <p:stCondLst>
                                            <p:cond delay="125"/>
                                          </p:stCondLst>
                                        </p:cTn>
                                        <p:tgtEl>
                                          <p:spTgt spid="9">
                                            <p:txEl>
                                              <p:pRg st="0" end="0"/>
                                            </p:txEl>
                                          </p:spTgt>
                                        </p:tgtEl>
                                        <p:attrNameLst>
                                          <p:attrName>r</p:attrName>
                                        </p:attrNameLst>
                                      </p:cBhvr>
                                    </p:animRot>
                                    <p:animRot by="-1500000">
                                      <p:cBhvr>
                                        <p:cTn id="39" dur="125" fill="hold">
                                          <p:stCondLst>
                                            <p:cond delay="250"/>
                                          </p:stCondLst>
                                        </p:cTn>
                                        <p:tgtEl>
                                          <p:spTgt spid="9">
                                            <p:txEl>
                                              <p:pRg st="0" end="0"/>
                                            </p:txEl>
                                          </p:spTgt>
                                        </p:tgtEl>
                                        <p:attrNameLst>
                                          <p:attrName>r</p:attrName>
                                        </p:attrNameLst>
                                      </p:cBhvr>
                                    </p:animRot>
                                    <p:animRot by="1500000">
                                      <p:cBhvr>
                                        <p:cTn id="40" dur="125" fill="hold">
                                          <p:stCondLst>
                                            <p:cond delay="375"/>
                                          </p:stCondLst>
                                        </p:cTn>
                                        <p:tgtEl>
                                          <p:spTgt spid="9">
                                            <p:txEl>
                                              <p:pRg st="0" end="0"/>
                                            </p:txEl>
                                          </p:spTgt>
                                        </p:tgtEl>
                                        <p:attrNameLst>
                                          <p:attrName>r</p:attrName>
                                        </p:attrNameLst>
                                      </p:cBhvr>
                                    </p:animRot>
                                  </p:childTnLst>
                                </p:cTn>
                              </p:par>
                              <p:par>
                                <p:cTn id="41" presetID="34" presetClass="emph" presetSubtype="0" fill="hold" nodeType="withEffect">
                                  <p:stCondLst>
                                    <p:cond delay="600"/>
                                  </p:stCondLst>
                                  <p:iterate type="lt">
                                    <p:tmPct val="10000"/>
                                  </p:iterate>
                                  <p:childTnLst>
                                    <p:animMotion origin="layout" path="M 4.375E-6 -4.07407E-6 L 4.375E-6 -0.07222 " pathEditMode="relative" rAng="0" ptsTypes="AA">
                                      <p:cBhvr>
                                        <p:cTn id="42" dur="250" accel="50000" decel="50000" autoRev="1" fill="hold">
                                          <p:stCondLst>
                                            <p:cond delay="0"/>
                                          </p:stCondLst>
                                        </p:cTn>
                                        <p:tgtEl>
                                          <p:spTgt spid="10">
                                            <p:txEl>
                                              <p:pRg st="0" end="0"/>
                                            </p:txEl>
                                          </p:spTgt>
                                        </p:tgtEl>
                                        <p:attrNameLst>
                                          <p:attrName>ppt_x</p:attrName>
                                          <p:attrName>ppt_y</p:attrName>
                                        </p:attrNameLst>
                                      </p:cBhvr>
                                      <p:rCtr x="0" y="-3611"/>
                                    </p:animMotion>
                                    <p:animRot by="1500000">
                                      <p:cBhvr>
                                        <p:cTn id="43" dur="125" fill="hold">
                                          <p:stCondLst>
                                            <p:cond delay="0"/>
                                          </p:stCondLst>
                                        </p:cTn>
                                        <p:tgtEl>
                                          <p:spTgt spid="10">
                                            <p:txEl>
                                              <p:pRg st="0" end="0"/>
                                            </p:txEl>
                                          </p:spTgt>
                                        </p:tgtEl>
                                        <p:attrNameLst>
                                          <p:attrName>r</p:attrName>
                                        </p:attrNameLst>
                                      </p:cBhvr>
                                    </p:animRot>
                                    <p:animRot by="-1500000">
                                      <p:cBhvr>
                                        <p:cTn id="44" dur="125" fill="hold">
                                          <p:stCondLst>
                                            <p:cond delay="125"/>
                                          </p:stCondLst>
                                        </p:cTn>
                                        <p:tgtEl>
                                          <p:spTgt spid="10">
                                            <p:txEl>
                                              <p:pRg st="0" end="0"/>
                                            </p:txEl>
                                          </p:spTgt>
                                        </p:tgtEl>
                                        <p:attrNameLst>
                                          <p:attrName>r</p:attrName>
                                        </p:attrNameLst>
                                      </p:cBhvr>
                                    </p:animRot>
                                    <p:animRot by="-1500000">
                                      <p:cBhvr>
                                        <p:cTn id="45" dur="125" fill="hold">
                                          <p:stCondLst>
                                            <p:cond delay="250"/>
                                          </p:stCondLst>
                                        </p:cTn>
                                        <p:tgtEl>
                                          <p:spTgt spid="10">
                                            <p:txEl>
                                              <p:pRg st="0" end="0"/>
                                            </p:txEl>
                                          </p:spTgt>
                                        </p:tgtEl>
                                        <p:attrNameLst>
                                          <p:attrName>r</p:attrName>
                                        </p:attrNameLst>
                                      </p:cBhvr>
                                    </p:animRot>
                                    <p:animRot by="1500000">
                                      <p:cBhvr>
                                        <p:cTn id="46" dur="125" fill="hold">
                                          <p:stCondLst>
                                            <p:cond delay="375"/>
                                          </p:stCondLst>
                                        </p:cTn>
                                        <p:tgtEl>
                                          <p:spTgt spid="10">
                                            <p:txEl>
                                              <p:pRg st="0" end="0"/>
                                            </p:txEl>
                                          </p:spTgt>
                                        </p:tgtEl>
                                        <p:attrNameLst>
                                          <p:attrName>r</p:attrName>
                                        </p:attrNameLst>
                                      </p:cBhvr>
                                    </p:animRot>
                                  </p:childTnLst>
                                </p:cTn>
                              </p:par>
                              <p:par>
                                <p:cTn id="47" presetID="34" presetClass="emph" presetSubtype="0" fill="hold" nodeType="withEffect">
                                  <p:stCondLst>
                                    <p:cond delay="700"/>
                                  </p:stCondLst>
                                  <p:iterate type="lt">
                                    <p:tmPct val="10000"/>
                                  </p:iterate>
                                  <p:childTnLst>
                                    <p:animMotion origin="layout" path="M -2.5E-6 -4.07407E-6 L -2.5E-6 -0.07222 " pathEditMode="relative" rAng="0" ptsTypes="AA">
                                      <p:cBhvr>
                                        <p:cTn id="48" dur="250" accel="50000" decel="50000" autoRev="1" fill="hold">
                                          <p:stCondLst>
                                            <p:cond delay="0"/>
                                          </p:stCondLst>
                                        </p:cTn>
                                        <p:tgtEl>
                                          <p:spTgt spid="11">
                                            <p:txEl>
                                              <p:pRg st="0" end="0"/>
                                            </p:txEl>
                                          </p:spTgt>
                                        </p:tgtEl>
                                        <p:attrNameLst>
                                          <p:attrName>ppt_x</p:attrName>
                                          <p:attrName>ppt_y</p:attrName>
                                        </p:attrNameLst>
                                      </p:cBhvr>
                                      <p:rCtr x="0" y="-3611"/>
                                    </p:animMotion>
                                    <p:animRot by="1500000">
                                      <p:cBhvr>
                                        <p:cTn id="49" dur="125" fill="hold">
                                          <p:stCondLst>
                                            <p:cond delay="0"/>
                                          </p:stCondLst>
                                        </p:cTn>
                                        <p:tgtEl>
                                          <p:spTgt spid="11">
                                            <p:txEl>
                                              <p:pRg st="0" end="0"/>
                                            </p:txEl>
                                          </p:spTgt>
                                        </p:tgtEl>
                                        <p:attrNameLst>
                                          <p:attrName>r</p:attrName>
                                        </p:attrNameLst>
                                      </p:cBhvr>
                                    </p:animRot>
                                    <p:animRot by="-1500000">
                                      <p:cBhvr>
                                        <p:cTn id="50" dur="125" fill="hold">
                                          <p:stCondLst>
                                            <p:cond delay="125"/>
                                          </p:stCondLst>
                                        </p:cTn>
                                        <p:tgtEl>
                                          <p:spTgt spid="11">
                                            <p:txEl>
                                              <p:pRg st="0" end="0"/>
                                            </p:txEl>
                                          </p:spTgt>
                                        </p:tgtEl>
                                        <p:attrNameLst>
                                          <p:attrName>r</p:attrName>
                                        </p:attrNameLst>
                                      </p:cBhvr>
                                    </p:animRot>
                                    <p:animRot by="-1500000">
                                      <p:cBhvr>
                                        <p:cTn id="51" dur="125" fill="hold">
                                          <p:stCondLst>
                                            <p:cond delay="250"/>
                                          </p:stCondLst>
                                        </p:cTn>
                                        <p:tgtEl>
                                          <p:spTgt spid="11">
                                            <p:txEl>
                                              <p:pRg st="0" end="0"/>
                                            </p:txEl>
                                          </p:spTgt>
                                        </p:tgtEl>
                                        <p:attrNameLst>
                                          <p:attrName>r</p:attrName>
                                        </p:attrNameLst>
                                      </p:cBhvr>
                                    </p:animRot>
                                    <p:animRot by="1500000">
                                      <p:cBhvr>
                                        <p:cTn id="52" dur="125" fill="hold">
                                          <p:stCondLst>
                                            <p:cond delay="375"/>
                                          </p:stCondLst>
                                        </p:cTn>
                                        <p:tgtEl>
                                          <p:spTgt spid="11">
                                            <p:txEl>
                                              <p:pRg st="0" end="0"/>
                                            </p:txEl>
                                          </p:spTgt>
                                        </p:tgtEl>
                                        <p:attrNameLst>
                                          <p:attrName>r</p:attrName>
                                        </p:attrNameLst>
                                      </p:cBhvr>
                                    </p:animRot>
                                  </p:childTnLst>
                                </p:cTn>
                              </p:par>
                              <p:par>
                                <p:cTn id="53" presetID="34" presetClass="emph" presetSubtype="0" fill="hold" nodeType="withEffect">
                                  <p:stCondLst>
                                    <p:cond delay="800"/>
                                  </p:stCondLst>
                                  <p:iterate type="lt">
                                    <p:tmPct val="10000"/>
                                  </p:iterate>
                                  <p:childTnLst>
                                    <p:animMotion origin="layout" path="M 4.16667E-6 -4.07407E-6 L 4.16667E-6 -0.07222 " pathEditMode="relative" rAng="0" ptsTypes="AA">
                                      <p:cBhvr>
                                        <p:cTn id="54" dur="250" accel="50000" decel="50000" autoRev="1" fill="hold">
                                          <p:stCondLst>
                                            <p:cond delay="0"/>
                                          </p:stCondLst>
                                        </p:cTn>
                                        <p:tgtEl>
                                          <p:spTgt spid="12">
                                            <p:txEl>
                                              <p:pRg st="0" end="0"/>
                                            </p:txEl>
                                          </p:spTgt>
                                        </p:tgtEl>
                                        <p:attrNameLst>
                                          <p:attrName>ppt_x</p:attrName>
                                          <p:attrName>ppt_y</p:attrName>
                                        </p:attrNameLst>
                                      </p:cBhvr>
                                      <p:rCtr x="0" y="-3611"/>
                                    </p:animMotion>
                                    <p:animRot by="1500000">
                                      <p:cBhvr>
                                        <p:cTn id="55" dur="125" fill="hold">
                                          <p:stCondLst>
                                            <p:cond delay="0"/>
                                          </p:stCondLst>
                                        </p:cTn>
                                        <p:tgtEl>
                                          <p:spTgt spid="12">
                                            <p:txEl>
                                              <p:pRg st="0" end="0"/>
                                            </p:txEl>
                                          </p:spTgt>
                                        </p:tgtEl>
                                        <p:attrNameLst>
                                          <p:attrName>r</p:attrName>
                                        </p:attrNameLst>
                                      </p:cBhvr>
                                    </p:animRot>
                                    <p:animRot by="-1500000">
                                      <p:cBhvr>
                                        <p:cTn id="56" dur="125" fill="hold">
                                          <p:stCondLst>
                                            <p:cond delay="125"/>
                                          </p:stCondLst>
                                        </p:cTn>
                                        <p:tgtEl>
                                          <p:spTgt spid="12">
                                            <p:txEl>
                                              <p:pRg st="0" end="0"/>
                                            </p:txEl>
                                          </p:spTgt>
                                        </p:tgtEl>
                                        <p:attrNameLst>
                                          <p:attrName>r</p:attrName>
                                        </p:attrNameLst>
                                      </p:cBhvr>
                                    </p:animRot>
                                    <p:animRot by="-1500000">
                                      <p:cBhvr>
                                        <p:cTn id="57" dur="125" fill="hold">
                                          <p:stCondLst>
                                            <p:cond delay="250"/>
                                          </p:stCondLst>
                                        </p:cTn>
                                        <p:tgtEl>
                                          <p:spTgt spid="12">
                                            <p:txEl>
                                              <p:pRg st="0" end="0"/>
                                            </p:txEl>
                                          </p:spTgt>
                                        </p:tgtEl>
                                        <p:attrNameLst>
                                          <p:attrName>r</p:attrName>
                                        </p:attrNameLst>
                                      </p:cBhvr>
                                    </p:animRot>
                                    <p:animRot by="1500000">
                                      <p:cBhvr>
                                        <p:cTn id="58" dur="125" fill="hold">
                                          <p:stCondLst>
                                            <p:cond delay="375"/>
                                          </p:stCondLst>
                                        </p:cTn>
                                        <p:tgtEl>
                                          <p:spTgt spid="12">
                                            <p:txEl>
                                              <p:pRg st="0" end="0"/>
                                            </p:txEl>
                                          </p:spTgt>
                                        </p:tgtEl>
                                        <p:attrNameLst>
                                          <p:attrName>r</p:attrName>
                                        </p:attrNameLst>
                                      </p:cBhvr>
                                    </p:animRot>
                                  </p:childTnLst>
                                </p:cTn>
                              </p:par>
                              <p:par>
                                <p:cTn id="59" presetID="34" presetClass="emph" presetSubtype="0" fill="hold" nodeType="withEffect">
                                  <p:stCondLst>
                                    <p:cond delay="900"/>
                                  </p:stCondLst>
                                  <p:iterate type="lt">
                                    <p:tmPct val="10000"/>
                                  </p:iterate>
                                  <p:childTnLst>
                                    <p:animMotion origin="layout" path="M -1.45833E-6 -4.07407E-6 L -1.45833E-6 -0.07222 " pathEditMode="relative" rAng="0" ptsTypes="AA">
                                      <p:cBhvr>
                                        <p:cTn id="60" dur="250" accel="50000" decel="50000" autoRev="1" fill="hold">
                                          <p:stCondLst>
                                            <p:cond delay="0"/>
                                          </p:stCondLst>
                                        </p:cTn>
                                        <p:tgtEl>
                                          <p:spTgt spid="13">
                                            <p:txEl>
                                              <p:pRg st="0" end="0"/>
                                            </p:txEl>
                                          </p:spTgt>
                                        </p:tgtEl>
                                        <p:attrNameLst>
                                          <p:attrName>ppt_x</p:attrName>
                                          <p:attrName>ppt_y</p:attrName>
                                        </p:attrNameLst>
                                      </p:cBhvr>
                                      <p:rCtr x="0" y="-3611"/>
                                    </p:animMotion>
                                    <p:animRot by="1500000">
                                      <p:cBhvr>
                                        <p:cTn id="61" dur="125" fill="hold">
                                          <p:stCondLst>
                                            <p:cond delay="0"/>
                                          </p:stCondLst>
                                        </p:cTn>
                                        <p:tgtEl>
                                          <p:spTgt spid="13">
                                            <p:txEl>
                                              <p:pRg st="0" end="0"/>
                                            </p:txEl>
                                          </p:spTgt>
                                        </p:tgtEl>
                                        <p:attrNameLst>
                                          <p:attrName>r</p:attrName>
                                        </p:attrNameLst>
                                      </p:cBhvr>
                                    </p:animRot>
                                    <p:animRot by="-1500000">
                                      <p:cBhvr>
                                        <p:cTn id="62" dur="125" fill="hold">
                                          <p:stCondLst>
                                            <p:cond delay="125"/>
                                          </p:stCondLst>
                                        </p:cTn>
                                        <p:tgtEl>
                                          <p:spTgt spid="13">
                                            <p:txEl>
                                              <p:pRg st="0" end="0"/>
                                            </p:txEl>
                                          </p:spTgt>
                                        </p:tgtEl>
                                        <p:attrNameLst>
                                          <p:attrName>r</p:attrName>
                                        </p:attrNameLst>
                                      </p:cBhvr>
                                    </p:animRot>
                                    <p:animRot by="-1500000">
                                      <p:cBhvr>
                                        <p:cTn id="63" dur="125" fill="hold">
                                          <p:stCondLst>
                                            <p:cond delay="250"/>
                                          </p:stCondLst>
                                        </p:cTn>
                                        <p:tgtEl>
                                          <p:spTgt spid="13">
                                            <p:txEl>
                                              <p:pRg st="0" end="0"/>
                                            </p:txEl>
                                          </p:spTgt>
                                        </p:tgtEl>
                                        <p:attrNameLst>
                                          <p:attrName>r</p:attrName>
                                        </p:attrNameLst>
                                      </p:cBhvr>
                                    </p:animRot>
                                    <p:animRot by="1500000">
                                      <p:cBhvr>
                                        <p:cTn id="64" dur="125" fill="hold">
                                          <p:stCondLst>
                                            <p:cond delay="375"/>
                                          </p:stCondLst>
                                        </p:cTn>
                                        <p:tgtEl>
                                          <p:spTgt spid="13">
                                            <p:txEl>
                                              <p:pRg st="0" end="0"/>
                                            </p:txEl>
                                          </p:spTgt>
                                        </p:tgtEl>
                                        <p:attrNameLst>
                                          <p:attrName>r</p:attrName>
                                        </p:attrNameLst>
                                      </p:cBhvr>
                                    </p:animRot>
                                  </p:childTnLst>
                                </p:cTn>
                              </p:par>
                              <p:par>
                                <p:cTn id="65" presetID="34" presetClass="emph" presetSubtype="0" fill="hold" nodeType="withEffect">
                                  <p:stCondLst>
                                    <p:cond delay="1000"/>
                                  </p:stCondLst>
                                  <p:iterate type="lt">
                                    <p:tmPct val="10000"/>
                                  </p:iterate>
                                  <p:childTnLst>
                                    <p:animMotion origin="layout" path="M -1.04167E-6 -4.07407E-6 L -1.04167E-6 -0.07222 " pathEditMode="relative" rAng="0" ptsTypes="AA">
                                      <p:cBhvr>
                                        <p:cTn id="66" dur="250" accel="50000" decel="50000" autoRev="1" fill="hold">
                                          <p:stCondLst>
                                            <p:cond delay="0"/>
                                          </p:stCondLst>
                                        </p:cTn>
                                        <p:tgtEl>
                                          <p:spTgt spid="14">
                                            <p:txEl>
                                              <p:pRg st="0" end="0"/>
                                            </p:txEl>
                                          </p:spTgt>
                                        </p:tgtEl>
                                        <p:attrNameLst>
                                          <p:attrName>ppt_x</p:attrName>
                                          <p:attrName>ppt_y</p:attrName>
                                        </p:attrNameLst>
                                      </p:cBhvr>
                                      <p:rCtr x="0" y="-3611"/>
                                    </p:animMotion>
                                    <p:animRot by="1500000">
                                      <p:cBhvr>
                                        <p:cTn id="67" dur="125" fill="hold">
                                          <p:stCondLst>
                                            <p:cond delay="0"/>
                                          </p:stCondLst>
                                        </p:cTn>
                                        <p:tgtEl>
                                          <p:spTgt spid="14">
                                            <p:txEl>
                                              <p:pRg st="0" end="0"/>
                                            </p:txEl>
                                          </p:spTgt>
                                        </p:tgtEl>
                                        <p:attrNameLst>
                                          <p:attrName>r</p:attrName>
                                        </p:attrNameLst>
                                      </p:cBhvr>
                                    </p:animRot>
                                    <p:animRot by="-1500000">
                                      <p:cBhvr>
                                        <p:cTn id="68" dur="125" fill="hold">
                                          <p:stCondLst>
                                            <p:cond delay="125"/>
                                          </p:stCondLst>
                                        </p:cTn>
                                        <p:tgtEl>
                                          <p:spTgt spid="14">
                                            <p:txEl>
                                              <p:pRg st="0" end="0"/>
                                            </p:txEl>
                                          </p:spTgt>
                                        </p:tgtEl>
                                        <p:attrNameLst>
                                          <p:attrName>r</p:attrName>
                                        </p:attrNameLst>
                                      </p:cBhvr>
                                    </p:animRot>
                                    <p:animRot by="-1500000">
                                      <p:cBhvr>
                                        <p:cTn id="69" dur="125" fill="hold">
                                          <p:stCondLst>
                                            <p:cond delay="250"/>
                                          </p:stCondLst>
                                        </p:cTn>
                                        <p:tgtEl>
                                          <p:spTgt spid="14">
                                            <p:txEl>
                                              <p:pRg st="0" end="0"/>
                                            </p:txEl>
                                          </p:spTgt>
                                        </p:tgtEl>
                                        <p:attrNameLst>
                                          <p:attrName>r</p:attrName>
                                        </p:attrNameLst>
                                      </p:cBhvr>
                                    </p:animRot>
                                    <p:animRot by="1500000">
                                      <p:cBhvr>
                                        <p:cTn id="70" dur="125" fill="hold">
                                          <p:stCondLst>
                                            <p:cond delay="375"/>
                                          </p:stCondLst>
                                        </p:cTn>
                                        <p:tgtEl>
                                          <p:spTgt spid="14">
                                            <p:txEl>
                                              <p:pRg st="0" end="0"/>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build="allAtOnce"/>
    </p:bldLst>
  </p:timing>
</p:sld>
</file>

<file path=ppt/theme/theme1.xml><?xml version="1.0" encoding="utf-8"?>
<a:theme xmlns:a="http://schemas.openxmlformats.org/drawingml/2006/main" name="スライス">
  <a:themeElements>
    <a:clrScheme name="スライス">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スライス">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スライス">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616</TotalTime>
  <Words>1085</Words>
  <Application>Microsoft Office PowerPoint</Application>
  <PresentationFormat>ワイド画面</PresentationFormat>
  <Paragraphs>123</Paragraphs>
  <Slides>22</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22</vt:i4>
      </vt:variant>
    </vt:vector>
  </HeadingPairs>
  <TitlesOfParts>
    <vt:vector size="30" baseType="lpstr">
      <vt:lpstr>HGP創英角ﾎﾟｯﾌﾟ体</vt:lpstr>
      <vt:lpstr>HGS創英角ｺﾞｼｯｸUB</vt:lpstr>
      <vt:lpstr>游ゴシック</vt:lpstr>
      <vt:lpstr>Arial</vt:lpstr>
      <vt:lpstr>Century Gothic</vt:lpstr>
      <vt:lpstr>Wingdings</vt:lpstr>
      <vt:lpstr>Wingdings 3</vt:lpstr>
      <vt:lpstr>スライス</vt:lpstr>
      <vt:lpstr>進捗状況報告書</vt:lpstr>
      <vt:lpstr>PowerPoint プレゼンテーション</vt:lpstr>
      <vt:lpstr>主な機能</vt:lpstr>
      <vt:lpstr>主な使用技術</vt:lpstr>
      <vt:lpstr>作成済みの機能</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今後(現在)の作業</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rei aki</dc:creator>
  <cp:lastModifiedBy>shuto nakahara</cp:lastModifiedBy>
  <cp:revision>18</cp:revision>
  <dcterms:created xsi:type="dcterms:W3CDTF">2025-12-02T04:10:51Z</dcterms:created>
  <dcterms:modified xsi:type="dcterms:W3CDTF">2025-12-10T01:11:56Z</dcterms:modified>
</cp:coreProperties>
</file>